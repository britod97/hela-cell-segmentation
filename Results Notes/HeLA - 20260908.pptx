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  <p:sldId id="262" r:id="rId7"/>
    <p:sldId id="261" r:id="rId8"/>
    <p:sldId id="264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253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2FEC7-7736-66E3-B7D6-5EBEBA9B4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10B11E-92D9-BDDE-451C-C802A1B59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A1B579-FE14-912B-8387-0930091B2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A2D8E-1D45-1B5A-AC05-3129D789D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864282-8E49-F5CC-C388-C7B449EFA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86612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EF7C3-4397-FC42-AB83-5E8FF6646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D2D5E-AC48-9767-4495-A26F4E2FE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A353F-5BBA-2AA7-DB24-7F354A58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13D1E-2C90-1018-ED62-FA21BF93A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9B4B22-2C21-B66D-8A01-1DD222E7F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0174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03C6A-0F61-D4E9-D13F-ED5CCB1E4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757D70-E510-BBBD-83EE-66801345F9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90E389-DA98-4628-D93C-F1C3D3C64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904E90-74A2-CCBC-EF3C-F757212A3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680187-FE7D-23CD-147F-7AD228A60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504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0D285-E300-460C-F03A-996C3ECA9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32E01B-60B0-AEA2-6006-8C2130D1BB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A0421A-9B44-9D6F-B9E4-9A9D69E25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8D1324-D0FB-131D-C9FF-0741314C2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D5F3C9-5C59-EA9D-63FF-015B0F499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C0C7DC-9BF8-A015-07C6-667D83425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44143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9331C-92D3-79A2-57DF-1E12AE090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769E10-EA30-1DD8-56EF-93AF353883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F363D7-9168-FFF8-9E71-3D5A67E673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797041-093B-63D0-2D6B-3DD3E39DCE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54059A-FA3B-5F4C-BC33-F7FF3D35B9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10F8D0-6F01-71BB-5B3F-31F14F80C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F23298-3332-4334-9D26-1B07E941D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D01BA3-388D-9F0E-1EA2-EB362DC81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8900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D9EB2-189C-2D3F-CC8D-03478F1C2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600193-E883-709E-0A66-7B55F3976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D99B5B-6B6A-F8CF-24A3-45D8E86F3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DBFD5D-E9E4-A916-C86E-40DDB6CB1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3364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81667B-B4AE-DC69-DE0B-26460F283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64DE74-C378-F4C8-13B2-D4EF688B1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8251FA-3362-85AE-5441-61C7EAE4A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2085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7E660-70B2-5B33-A0B4-D3CA84FEA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63F5E-3E70-DC96-C73D-98C370CE5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4C36F2-941E-3068-2D2D-840DE95783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24EF04-6FEE-BFA7-5469-BF31AC9E0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6986CA-B7DF-59E0-070C-F1D17FC2E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FCDD0B-638A-FA56-0AC7-4855EC9F3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878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0B24B-2486-E802-E810-E4513346F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C08FEF3-6100-112E-5BCA-68CACB7DFC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82D37C-6840-F707-54B9-7A8984BD1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A191E6-177E-3FFA-C525-7307FE398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1FB074-CB6C-A9EC-6E2E-BD3F7E6C8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1F036E-D1AC-2898-582C-265859AF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25060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C03BF-2C78-5974-CC61-08DDBF0B5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1E2101-9AAF-1B58-D60E-29739A83F7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E27E78-1C40-C3F2-B475-505D2769E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B641A0-3597-78D6-7490-B2D78C8D6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E4C8ED-EFCF-CACD-6426-3FC2C2761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499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0BC0D3-7079-D5E1-B6DA-70C47A8DB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9A60E9-F991-9501-0F7A-1767F9688C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90B9A0-DC3B-EAB4-5CA4-933C485B7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6BD07-C737-A0BE-F21A-D53D459F8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48243D-2B2F-CA57-97FF-171D1B7BE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674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DAE176-3128-82C1-B68D-AABC51A02A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B32C6E-F688-C6F8-A0A7-512E77662A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753A42-2089-26AF-0240-A79216C494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3E5437-416D-401B-AE6C-C07CB4A479CF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238F20-C495-985F-2E0A-31ACF3E7E9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2E22E7-697A-A98D-3005-1399D7D901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6225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868E2-01BF-CC74-A178-A3902B0F64B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sz="16600" dirty="0" err="1"/>
              <a:t>HeLA</a:t>
            </a:r>
            <a:endParaRPr lang="en-GB" sz="16600" dirty="0"/>
          </a:p>
        </p:txBody>
      </p:sp>
    </p:spTree>
    <p:extLst>
      <p:ext uri="{BB962C8B-B14F-4D97-AF65-F5344CB8AC3E}">
        <p14:creationId xmlns:p14="http://schemas.microsoft.com/office/powerpoint/2010/main" val="26985868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2F7FD-DF2C-0090-E19A-BC657FB0A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6075E-854B-4FBA-2FF2-D81263F5A7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GB" sz="8000" dirty="0"/>
              <a:t>Orientations</a:t>
            </a:r>
          </a:p>
        </p:txBody>
      </p:sp>
    </p:spTree>
    <p:extLst>
      <p:ext uri="{BB962C8B-B14F-4D97-AF65-F5344CB8AC3E}">
        <p14:creationId xmlns:p14="http://schemas.microsoft.com/office/powerpoint/2010/main" val="961357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3A9C5CAD-AF2C-7761-E72C-63D55FBC3A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087" b="21087"/>
          <a:stretch>
            <a:fillRect/>
          </a:stretch>
        </p:blipFill>
        <p:spPr>
          <a:xfrm>
            <a:off x="1122680" y="2001520"/>
            <a:ext cx="4351338" cy="251618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E08CAAD-686B-69AA-ED93-050EAFDD3D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087" b="21087"/>
          <a:stretch>
            <a:fillRect/>
          </a:stretch>
        </p:blipFill>
        <p:spPr>
          <a:xfrm>
            <a:off x="6185218" y="2001520"/>
            <a:ext cx="4351338" cy="2516188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B3624DA4-993B-A21C-F0A8-BB8711DFB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Centroid Angle by Cell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1988C0-8907-BE76-184C-3CE5A86E70A1}"/>
              </a:ext>
            </a:extLst>
          </p:cNvPr>
          <p:cNvSpPr txBox="1"/>
          <p:nvPr/>
        </p:nvSpPr>
        <p:spPr>
          <a:xfrm>
            <a:off x="3082585" y="1501922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B15258-14CE-9323-3F23-375DF8F242D5}"/>
              </a:ext>
            </a:extLst>
          </p:cNvPr>
          <p:cNvSpPr txBox="1"/>
          <p:nvPr/>
        </p:nvSpPr>
        <p:spPr>
          <a:xfrm>
            <a:off x="8145123" y="1501922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02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3C546F5-8CE0-2405-C342-5E8026DEEB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976" b="21976"/>
          <a:stretch>
            <a:fillRect/>
          </a:stretch>
        </p:blipFill>
        <p:spPr>
          <a:xfrm>
            <a:off x="249953" y="4832640"/>
            <a:ext cx="2811367" cy="157574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8E267BB-AB88-8C00-2A49-C6E9A7031D5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650" b="22301"/>
          <a:stretch>
            <a:fillRect/>
          </a:stretch>
        </p:blipFill>
        <p:spPr>
          <a:xfrm>
            <a:off x="3171322" y="4832640"/>
            <a:ext cx="2811367" cy="157574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FFA42DF-4EBD-F47D-BE14-80C7DD2C148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976" b="21976"/>
          <a:stretch>
            <a:fillRect/>
          </a:stretch>
        </p:blipFill>
        <p:spPr>
          <a:xfrm>
            <a:off x="6092691" y="4832640"/>
            <a:ext cx="2811367" cy="157574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0713D569-EF6A-8239-2872-1403543D629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976" b="21976"/>
          <a:stretch>
            <a:fillRect/>
          </a:stretch>
        </p:blipFill>
        <p:spPr>
          <a:xfrm>
            <a:off x="9014061" y="4832640"/>
            <a:ext cx="2811367" cy="157574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1E8296-14AC-BA2B-2EC4-9E64A5E5C7B6}"/>
              </a:ext>
            </a:extLst>
          </p:cNvPr>
          <p:cNvSpPr txBox="1"/>
          <p:nvPr/>
        </p:nvSpPr>
        <p:spPr>
          <a:xfrm>
            <a:off x="1439872" y="6450217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0FD96B-D1B5-2715-E599-450A3BB60C6E}"/>
              </a:ext>
            </a:extLst>
          </p:cNvPr>
          <p:cNvSpPr txBox="1"/>
          <p:nvPr/>
        </p:nvSpPr>
        <p:spPr>
          <a:xfrm>
            <a:off x="4364354" y="6450217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EDE693F-A46F-82B2-B7B9-678E5094DCBE}"/>
              </a:ext>
            </a:extLst>
          </p:cNvPr>
          <p:cNvSpPr txBox="1"/>
          <p:nvPr/>
        </p:nvSpPr>
        <p:spPr>
          <a:xfrm>
            <a:off x="7288836" y="6450217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2A775F-F740-EF01-21FE-01B432DC677A}"/>
              </a:ext>
            </a:extLst>
          </p:cNvPr>
          <p:cNvSpPr txBox="1"/>
          <p:nvPr/>
        </p:nvSpPr>
        <p:spPr>
          <a:xfrm>
            <a:off x="10213318" y="6450217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948575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DE967-7869-74CD-47AA-3B953E2A6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E9A68D-C06B-FDC2-EDD3-EDB78D1104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30" b="21830"/>
          <a:stretch>
            <a:fillRect/>
          </a:stretch>
        </p:blipFill>
        <p:spPr>
          <a:xfrm>
            <a:off x="249953" y="4828540"/>
            <a:ext cx="2811366" cy="1583940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1E492360-60D2-00BF-8D8D-64B1D04F3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Surface Angle by Cell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FBF5CE-E779-B1E1-0BF1-E763B453ECC5}"/>
              </a:ext>
            </a:extLst>
          </p:cNvPr>
          <p:cNvSpPr txBox="1"/>
          <p:nvPr/>
        </p:nvSpPr>
        <p:spPr>
          <a:xfrm>
            <a:off x="3082585" y="1501922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7AEEAA-13BF-99A8-7B7E-B4C14C80A7C0}"/>
              </a:ext>
            </a:extLst>
          </p:cNvPr>
          <p:cNvSpPr txBox="1"/>
          <p:nvPr/>
        </p:nvSpPr>
        <p:spPr>
          <a:xfrm>
            <a:off x="8145123" y="1501922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577F41D-A46A-960D-1D4A-102A86D59B1E}"/>
              </a:ext>
            </a:extLst>
          </p:cNvPr>
          <p:cNvSpPr txBox="1"/>
          <p:nvPr/>
        </p:nvSpPr>
        <p:spPr>
          <a:xfrm>
            <a:off x="1439872" y="6450217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E0C731-4200-9891-F4CD-355E84E14B87}"/>
              </a:ext>
            </a:extLst>
          </p:cNvPr>
          <p:cNvSpPr txBox="1"/>
          <p:nvPr/>
        </p:nvSpPr>
        <p:spPr>
          <a:xfrm>
            <a:off x="4364354" y="6450217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5385AAE-3575-3AEF-3CEE-C5AF782C9B5F}"/>
              </a:ext>
            </a:extLst>
          </p:cNvPr>
          <p:cNvSpPr txBox="1"/>
          <p:nvPr/>
        </p:nvSpPr>
        <p:spPr>
          <a:xfrm>
            <a:off x="7288836" y="6450217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5AE407-ECFC-8A42-34F9-5909A0CAFDC0}"/>
              </a:ext>
            </a:extLst>
          </p:cNvPr>
          <p:cNvSpPr txBox="1"/>
          <p:nvPr/>
        </p:nvSpPr>
        <p:spPr>
          <a:xfrm>
            <a:off x="10213318" y="6450217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23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2A44C0-C6C0-E836-AD51-D6F7D02C8E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30" b="21830"/>
          <a:stretch>
            <a:fillRect/>
          </a:stretch>
        </p:blipFill>
        <p:spPr>
          <a:xfrm>
            <a:off x="3177940" y="4828540"/>
            <a:ext cx="2811366" cy="15839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DC6022A-C5C5-1CE5-0515-EDD7FDB7C0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30" b="21830"/>
          <a:stretch>
            <a:fillRect/>
          </a:stretch>
        </p:blipFill>
        <p:spPr>
          <a:xfrm>
            <a:off x="6086074" y="4828541"/>
            <a:ext cx="2811365" cy="158393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267E0D7-126B-2A61-A282-1939E9D699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85" b="21885"/>
          <a:stretch>
            <a:fillRect/>
          </a:stretch>
        </p:blipFill>
        <p:spPr>
          <a:xfrm>
            <a:off x="9020638" y="4828541"/>
            <a:ext cx="2816887" cy="158393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453D8A9-C09D-4E54-090A-4B9E9A5D3A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27" b="21127"/>
          <a:stretch>
            <a:fillRect/>
          </a:stretch>
        </p:blipFill>
        <p:spPr>
          <a:xfrm>
            <a:off x="1122680" y="1996426"/>
            <a:ext cx="4351338" cy="251273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72D86CF-CCA4-D4A8-6ADB-D89E1C78472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70" b="20970"/>
          <a:stretch>
            <a:fillRect/>
          </a:stretch>
        </p:blipFill>
        <p:spPr>
          <a:xfrm>
            <a:off x="6185218" y="1989605"/>
            <a:ext cx="4351338" cy="252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257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A38F9-D06A-136B-C127-B71CCDE57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929B9732-DBC4-65BF-47D0-9E8913A607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087" b="21087"/>
          <a:stretch>
            <a:fillRect/>
          </a:stretch>
        </p:blipFill>
        <p:spPr>
          <a:xfrm>
            <a:off x="1473200" y="1960370"/>
            <a:ext cx="3650298" cy="21108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DD8C8CB-82C4-3370-B226-3304298D9E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087" b="21087"/>
          <a:stretch>
            <a:fillRect/>
          </a:stretch>
        </p:blipFill>
        <p:spPr>
          <a:xfrm>
            <a:off x="6535738" y="1960370"/>
            <a:ext cx="3650298" cy="2110808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A386CEAE-F3F3-4217-6AB8-D99CB9B6B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Only the new ones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7B8EE6-7E23-FED9-9449-F5A5AC476EB6}"/>
              </a:ext>
            </a:extLst>
          </p:cNvPr>
          <p:cNvSpPr txBox="1"/>
          <p:nvPr/>
        </p:nvSpPr>
        <p:spPr>
          <a:xfrm>
            <a:off x="3082585" y="1501922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37E94C-FA2A-6943-9812-B9E4D62573DD}"/>
              </a:ext>
            </a:extLst>
          </p:cNvPr>
          <p:cNvSpPr txBox="1"/>
          <p:nvPr/>
        </p:nvSpPr>
        <p:spPr>
          <a:xfrm>
            <a:off x="8145123" y="1501922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9CC708C-D9CC-ABE0-8BB0-248B38C0A4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27" b="21127"/>
          <a:stretch>
            <a:fillRect/>
          </a:stretch>
        </p:blipFill>
        <p:spPr>
          <a:xfrm>
            <a:off x="1473200" y="4483101"/>
            <a:ext cx="3650298" cy="21079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B5D3948-F1AE-B184-DBEE-1E2009D29B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70" b="20970"/>
          <a:stretch>
            <a:fillRect/>
          </a:stretch>
        </p:blipFill>
        <p:spPr>
          <a:xfrm>
            <a:off x="6535738" y="4477379"/>
            <a:ext cx="3650298" cy="21193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0B2EBFC-CBB4-8558-E818-8EAD972D3C60}"/>
              </a:ext>
            </a:extLst>
          </p:cNvPr>
          <p:cNvSpPr txBox="1"/>
          <p:nvPr/>
        </p:nvSpPr>
        <p:spPr>
          <a:xfrm>
            <a:off x="311421" y="2831108"/>
            <a:ext cx="1053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Centroid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53AF31-374A-AF30-15B8-D6E7FF4EDD1C}"/>
              </a:ext>
            </a:extLst>
          </p:cNvPr>
          <p:cNvSpPr txBox="1"/>
          <p:nvPr/>
        </p:nvSpPr>
        <p:spPr>
          <a:xfrm>
            <a:off x="311421" y="5352389"/>
            <a:ext cx="951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Surface</a:t>
            </a:r>
          </a:p>
        </p:txBody>
      </p:sp>
    </p:spTree>
    <p:extLst>
      <p:ext uri="{BB962C8B-B14F-4D97-AF65-F5344CB8AC3E}">
        <p14:creationId xmlns:p14="http://schemas.microsoft.com/office/powerpoint/2010/main" val="12768402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16B49-1329-C8CF-F5C2-E0A2DA381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73501D07-0496-1B6E-5904-1F866C060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All mitochondria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381F3-7FAB-07E5-9742-F73F4DE37503}"/>
              </a:ext>
            </a:extLst>
          </p:cNvPr>
          <p:cNvSpPr txBox="1"/>
          <p:nvPr/>
        </p:nvSpPr>
        <p:spPr>
          <a:xfrm>
            <a:off x="3035256" y="1506022"/>
            <a:ext cx="6364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1669F1-E2A1-F1BE-7970-55DA5686DAF5}"/>
              </a:ext>
            </a:extLst>
          </p:cNvPr>
          <p:cNvSpPr txBox="1"/>
          <p:nvPr/>
        </p:nvSpPr>
        <p:spPr>
          <a:xfrm>
            <a:off x="7887076" y="1506022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Old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7137BD-CA5C-567E-0192-84AFB0DE35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452" b="15452"/>
          <a:stretch>
            <a:fillRect/>
          </a:stretch>
        </p:blipFill>
        <p:spPr>
          <a:xfrm>
            <a:off x="6332994" y="2025659"/>
            <a:ext cx="3650300" cy="203400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9CD04E9-3E29-E4D7-8F5C-5B5528261F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488" b="15488"/>
          <a:stretch>
            <a:fillRect/>
          </a:stretch>
        </p:blipFill>
        <p:spPr>
          <a:xfrm>
            <a:off x="1526374" y="4394638"/>
            <a:ext cx="3654221" cy="203400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0A811E6-FA59-820E-A6C2-3860909A4C5C}"/>
              </a:ext>
            </a:extLst>
          </p:cNvPr>
          <p:cNvSpPr txBox="1"/>
          <p:nvPr/>
        </p:nvSpPr>
        <p:spPr>
          <a:xfrm>
            <a:off x="311421" y="2831108"/>
            <a:ext cx="1053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Centroid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36DCD8-82E9-138D-BFB9-ED27CE1F7AF9}"/>
              </a:ext>
            </a:extLst>
          </p:cNvPr>
          <p:cNvSpPr txBox="1"/>
          <p:nvPr/>
        </p:nvSpPr>
        <p:spPr>
          <a:xfrm>
            <a:off x="311421" y="5226976"/>
            <a:ext cx="951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Surface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1A39CD9-BDED-96DF-FCF7-B1633B4167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239" b="16239"/>
          <a:stretch>
            <a:fillRect/>
          </a:stretch>
        </p:blipFill>
        <p:spPr>
          <a:xfrm>
            <a:off x="1530295" y="2025659"/>
            <a:ext cx="3650300" cy="198765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4D378D1-FBC0-8B78-B9C8-9C1776A4DC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452" b="15452"/>
          <a:stretch>
            <a:fillRect/>
          </a:stretch>
        </p:blipFill>
        <p:spPr>
          <a:xfrm>
            <a:off x="6332994" y="4394638"/>
            <a:ext cx="3650300" cy="203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194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4292A-9635-A44B-871E-43B4C2AB8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D91CD-3133-1806-670B-CBA3AA2EE3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GB" sz="8000" dirty="0"/>
              <a:t>Outlier features</a:t>
            </a:r>
          </a:p>
        </p:txBody>
      </p:sp>
    </p:spTree>
    <p:extLst>
      <p:ext uri="{BB962C8B-B14F-4D97-AF65-F5344CB8AC3E}">
        <p14:creationId xmlns:p14="http://schemas.microsoft.com/office/powerpoint/2010/main" val="3126284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04980-23B0-8A6C-AAAF-7F05A4C5A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Flagged Features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47C6BCF-4C28-12D6-B44D-E7B8BD72B5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51044" y="1819275"/>
            <a:ext cx="8489912" cy="467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3671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41D5E-3956-1F1B-CB0C-100ECBCF6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Flagged Features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82D070E-CF95-1F9C-4A0E-419CC37B51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5520597"/>
              </p:ext>
            </p:extLst>
          </p:nvPr>
        </p:nvGraphicFramePr>
        <p:xfrm>
          <a:off x="12000" y="1527858"/>
          <a:ext cx="12168000" cy="52170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000">
                  <a:extLst>
                    <a:ext uri="{9D8B030D-6E8A-4147-A177-3AD203B41FA5}">
                      <a16:colId xmlns:a16="http://schemas.microsoft.com/office/drawing/2014/main" val="908099444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304222866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931972079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3431500333"/>
                    </a:ext>
                  </a:extLst>
                </a:gridCol>
                <a:gridCol w="4680000">
                  <a:extLst>
                    <a:ext uri="{9D8B030D-6E8A-4147-A177-3AD203B41FA5}">
                      <a16:colId xmlns:a16="http://schemas.microsoft.com/office/drawing/2014/main" val="4084811004"/>
                    </a:ext>
                  </a:extLst>
                </a:gridCol>
              </a:tblGrid>
              <a:tr h="348127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Cell 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Cell 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Plain English</a:t>
                      </a:r>
                    </a:p>
                  </a:txBody>
                  <a:tcPr anchor="ctr">
                    <a:solidFill>
                      <a:schemeClr val="bg2">
                        <a:lumMod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5619706"/>
                  </a:ext>
                </a:extLst>
              </a:tr>
              <a:tr h="375020"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nucleus_volume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2.53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Volume of the nucleus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69463"/>
                  </a:ext>
                </a:extLst>
              </a:tr>
              <a:tr h="348127"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 err="1"/>
                        <a:t>mitocloud_anisotropy</a:t>
                      </a:r>
                      <a:endParaRPr lang="en-GB" sz="15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10.20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 err="1"/>
                        <a:t>mitocloud_anisotropy</a:t>
                      </a:r>
                      <a:endParaRPr lang="en-GB" sz="15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4.50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How elongated (like aspect ratio)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3511193"/>
                  </a:ext>
                </a:extLst>
              </a:tr>
              <a:tr h="480539"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nucleus_mitocloud_L1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7.41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nucleus_mitocloud_L1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5.19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Spread along long axis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0197775"/>
                  </a:ext>
                </a:extLst>
              </a:tr>
              <a:tr h="348127">
                <a:tc>
                  <a:txBody>
                    <a:bodyPr/>
                    <a:lstStyle/>
                    <a:p>
                      <a:pPr algn="ctr"/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nucleus_mitocloud_L2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2.32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Spread along mid axis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284408"/>
                  </a:ext>
                </a:extLst>
              </a:tr>
              <a:tr h="348127">
                <a:tc>
                  <a:txBody>
                    <a:bodyPr/>
                    <a:lstStyle/>
                    <a:p>
                      <a:pPr algn="ctr"/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 err="1"/>
                        <a:t>nucleus_distance_of_centroids</a:t>
                      </a:r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2.29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Distance between </a:t>
                      </a:r>
                      <a:r>
                        <a:rPr lang="en-GB" sz="1500" b="0" dirty="0" err="1"/>
                        <a:t>nuc</a:t>
                      </a:r>
                      <a:r>
                        <a:rPr lang="en-GB" sz="1500" b="0" dirty="0"/>
                        <a:t> centroid and </a:t>
                      </a:r>
                      <a:r>
                        <a:rPr lang="en-GB" sz="1500" b="0" dirty="0" err="1"/>
                        <a:t>mitocloud</a:t>
                      </a:r>
                      <a:r>
                        <a:rPr lang="en-GB" sz="1500" b="0" dirty="0"/>
                        <a:t> centroid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7486344"/>
                  </a:ext>
                </a:extLst>
              </a:tr>
              <a:tr h="348127"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 err="1"/>
                        <a:t>mito_volume_mean</a:t>
                      </a:r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-3.11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mito_volume_mean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-2.55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Mean volume of mitochondria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6761717"/>
                  </a:ext>
                </a:extLst>
              </a:tr>
              <a:tr h="480539">
                <a:tc>
                  <a:txBody>
                    <a:bodyPr/>
                    <a:lstStyle/>
                    <a:p>
                      <a:pPr algn="ctr"/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 err="1"/>
                        <a:t>mito_volume_total</a:t>
                      </a:r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-2.55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Total volume of all mitochondria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758331"/>
                  </a:ext>
                </a:extLst>
              </a:tr>
              <a:tr h="480539"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 err="1"/>
                        <a:t>mito_surface_area_mean</a:t>
                      </a:r>
                      <a:endParaRPr lang="en-GB" sz="15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-6.65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mito_surface_area_mean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-6.14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Mean surf. area of mitochondria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0650873"/>
                  </a:ext>
                </a:extLst>
              </a:tr>
              <a:tr h="480539"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mito_centroid_distance_mean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4.75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 err="1"/>
                        <a:t>mito_centroid_distance_mean</a:t>
                      </a:r>
                      <a:endParaRPr lang="en-GB" sz="15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4.19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Mean mitochondria distance to nucleus centroid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0666823"/>
                  </a:ext>
                </a:extLst>
              </a:tr>
              <a:tr h="480539">
                <a:tc>
                  <a:txBody>
                    <a:bodyPr/>
                    <a:lstStyle/>
                    <a:p>
                      <a:pPr algn="ctr"/>
                      <a:r>
                        <a:rPr lang="en-GB" sz="1500" b="1"/>
                        <a:t>mito_surface_distance_mean</a:t>
                      </a:r>
                      <a:endParaRPr lang="en-GB" sz="15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3.86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 err="1"/>
                        <a:t>mito_surface_distance_mean</a:t>
                      </a:r>
                      <a:endParaRPr lang="en-GB" sz="15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4.39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Mean mitochondria distance to nucleus surface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136355"/>
                  </a:ext>
                </a:extLst>
              </a:tr>
              <a:tr h="480539"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mito_volume_fraction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-3.27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 err="1"/>
                        <a:t>mito_volume_fraction</a:t>
                      </a:r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-3.53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Ratio of mitochondrial volume to nuclear volume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55116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92883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233</Words>
  <Application>Microsoft Office PowerPoint</Application>
  <PresentationFormat>Widescreen</PresentationFormat>
  <Paragraphs>81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HeLA</vt:lpstr>
      <vt:lpstr>Orientations</vt:lpstr>
      <vt:lpstr>Centroid Angle by Cell</vt:lpstr>
      <vt:lpstr>Surface Angle by Cell</vt:lpstr>
      <vt:lpstr>Only the new ones</vt:lpstr>
      <vt:lpstr>All mitochondria</vt:lpstr>
      <vt:lpstr>Outlier features</vt:lpstr>
      <vt:lpstr>Flagged Features</vt:lpstr>
      <vt:lpstr>Flagged Features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Brito</dc:creator>
  <cp:lastModifiedBy>Daniel Brito</cp:lastModifiedBy>
  <cp:revision>2</cp:revision>
  <dcterms:created xsi:type="dcterms:W3CDTF">2026-09-08T10:26:33Z</dcterms:created>
  <dcterms:modified xsi:type="dcterms:W3CDTF">2026-09-08T15:40:00Z</dcterms:modified>
</cp:coreProperties>
</file>