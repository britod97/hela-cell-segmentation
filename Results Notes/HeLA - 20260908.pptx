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2" r:id="rId7"/>
    <p:sldId id="261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FEC7-7736-66E3-B7D6-5EBEBA9B4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0B11E-92D9-BDDE-451C-C802A1B59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1B579-FE14-912B-8387-0930091B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A2D8E-1D45-1B5A-AC05-3129D789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64282-8E49-F5CC-C388-C7B449EF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661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F7C3-4397-FC42-AB83-5E8FF664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2D5E-AC48-9767-4495-A26F4E2FE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A353F-5BBA-2AA7-DB24-7F354A58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13D1E-2C90-1018-ED62-FA21BF93A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B4B22-2C21-B66D-8A01-1DD222E7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17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3C6A-0F61-D4E9-D13F-ED5CCB1E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57D70-E510-BBBD-83EE-66801345F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0E389-DA98-4628-D93C-F1C3D3C6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4E90-74A2-CCBC-EF3C-F757212A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80187-FE7D-23CD-147F-7AD228A6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50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D285-E300-460C-F03A-996C3ECA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2E01B-60B0-AEA2-6006-8C2130D1B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0421A-9B44-9D6F-B9E4-9A9D69E25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D1324-D0FB-131D-C9FF-0741314C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5F3C9-5C59-EA9D-63FF-015B0F49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0C7DC-9BF8-A015-07C6-667D8342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41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331C-92D3-79A2-57DF-1E12AE09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69E10-EA30-1DD8-56EF-93AF3538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363D7-9168-FFF8-9E71-3D5A67E67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97041-093B-63D0-2D6B-3DD3E39DC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4059A-FA3B-5F4C-BC33-F7FF3D35B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0F8D0-6F01-71BB-5B3F-31F14F80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23298-3332-4334-9D26-1B07E941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01BA3-388D-9F0E-1EA2-EB362DC8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900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9EB2-189C-2D3F-CC8D-03478F1C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600193-E883-709E-0A66-7B55F3976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99B5B-6B6A-F8CF-24A3-45D8E86F3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BFD5D-E9E4-A916-C86E-40DDB6CB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36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1667B-B4AE-DC69-DE0B-26460F28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4DE74-C378-F4C8-13B2-D4EF688B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251FA-3362-85AE-5441-61C7EAE4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08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E660-70B2-5B33-A0B4-D3CA84FE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3F5E-3E70-DC96-C73D-98C370CE5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C36F2-941E-3068-2D2D-840DE9578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4EF04-6FEE-BFA7-5469-BF31AC9E0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986CA-B7DF-59E0-070C-F1D17FC2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CDD0B-638A-FA56-0AC7-4855EC9F3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87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B24B-2486-E802-E810-E4513346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8FEF3-6100-112E-5BCA-68CACB7DF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2D37C-6840-F707-54B9-7A8984BD1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191E6-177E-3FFA-C525-7307FE398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FB074-CB6C-A9EC-6E2E-BD3F7E6C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F036E-D1AC-2898-582C-265859AF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50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03BF-2C78-5974-CC61-08DDBF0B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E2101-9AAF-1B58-D60E-29739A83F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27E78-1C40-C3F2-B475-505D2769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641A0-3597-78D6-7490-B2D78C8D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4C8ED-EFCF-CACD-6426-3FC2C2761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49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BC0D3-7079-D5E1-B6DA-70C47A8DB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A60E9-F991-9501-0F7A-1767F9688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0B9A0-DC3B-EAB4-5CA4-933C485B7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6BD07-C737-A0BE-F21A-D53D459F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8243D-2B2F-CA57-97FF-171D1B7B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67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AE176-3128-82C1-B68D-AABC51A0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32C6E-F688-C6F8-A0A7-512E77662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53A42-2089-26AF-0240-A79216C49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E5437-416D-401B-AE6C-C07CB4A479CF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38F20-C495-985F-2E0A-31ACF3E7E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E22E7-697A-A98D-3005-1399D7D90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A8374-5C24-4EB1-87C7-A1341B264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22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868E2-01BF-CC74-A178-A3902B0F6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16600" dirty="0"/>
              <a:t>HeLa</a:t>
            </a:r>
          </a:p>
        </p:txBody>
      </p:sp>
    </p:spTree>
    <p:extLst>
      <p:ext uri="{BB962C8B-B14F-4D97-AF65-F5344CB8AC3E}">
        <p14:creationId xmlns:p14="http://schemas.microsoft.com/office/powerpoint/2010/main" val="2698586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F7FD-DF2C-0090-E19A-BC657FB0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075E-854B-4FBA-2FF2-D81263F5A7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8000" dirty="0"/>
              <a:t>Orientations</a:t>
            </a:r>
          </a:p>
        </p:txBody>
      </p:sp>
    </p:spTree>
    <p:extLst>
      <p:ext uri="{BB962C8B-B14F-4D97-AF65-F5344CB8AC3E}">
        <p14:creationId xmlns:p14="http://schemas.microsoft.com/office/powerpoint/2010/main" val="96135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A9C5CAD-AF2C-7761-E72C-63D55FBC3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87" b="21087"/>
          <a:stretch>
            <a:fillRect/>
          </a:stretch>
        </p:blipFill>
        <p:spPr>
          <a:xfrm>
            <a:off x="1122680" y="2001520"/>
            <a:ext cx="4351338" cy="2516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08CAAD-686B-69AA-ED93-050EAFDD3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87" b="21087"/>
          <a:stretch>
            <a:fillRect/>
          </a:stretch>
        </p:blipFill>
        <p:spPr>
          <a:xfrm>
            <a:off x="6185218" y="2001520"/>
            <a:ext cx="4351338" cy="251618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3624DA4-993B-A21C-F0A8-BB8711DF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Centroid Angle by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988C0-8907-BE76-184C-3CE5A86E70A1}"/>
              </a:ext>
            </a:extLst>
          </p:cNvPr>
          <p:cNvSpPr txBox="1"/>
          <p:nvPr/>
        </p:nvSpPr>
        <p:spPr>
          <a:xfrm>
            <a:off x="3082585" y="1501922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15258-14CE-9323-3F23-375DF8F242D5}"/>
              </a:ext>
            </a:extLst>
          </p:cNvPr>
          <p:cNvSpPr txBox="1"/>
          <p:nvPr/>
        </p:nvSpPr>
        <p:spPr>
          <a:xfrm>
            <a:off x="8145123" y="1501922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C546F5-8CE0-2405-C342-5E8026DEE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6" b="21976"/>
          <a:stretch>
            <a:fillRect/>
          </a:stretch>
        </p:blipFill>
        <p:spPr>
          <a:xfrm>
            <a:off x="249953" y="4832640"/>
            <a:ext cx="2811367" cy="15757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E267BB-AB88-8C00-2A49-C6E9A7031D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50" b="22301"/>
          <a:stretch>
            <a:fillRect/>
          </a:stretch>
        </p:blipFill>
        <p:spPr>
          <a:xfrm>
            <a:off x="3171322" y="4832640"/>
            <a:ext cx="2811367" cy="15757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FA42DF-4EBD-F47D-BE14-80C7DD2C14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6" b="21976"/>
          <a:stretch>
            <a:fillRect/>
          </a:stretch>
        </p:blipFill>
        <p:spPr>
          <a:xfrm>
            <a:off x="6092691" y="4832640"/>
            <a:ext cx="2811367" cy="15757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13D569-EF6A-8239-2872-1403543D62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6" b="21976"/>
          <a:stretch>
            <a:fillRect/>
          </a:stretch>
        </p:blipFill>
        <p:spPr>
          <a:xfrm>
            <a:off x="9014061" y="4832640"/>
            <a:ext cx="2811367" cy="15757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31E8296-14AC-BA2B-2EC4-9E64A5E5C7B6}"/>
              </a:ext>
            </a:extLst>
          </p:cNvPr>
          <p:cNvSpPr txBox="1"/>
          <p:nvPr/>
        </p:nvSpPr>
        <p:spPr>
          <a:xfrm>
            <a:off x="1439872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FD96B-D1B5-2715-E599-450A3BB60C6E}"/>
              </a:ext>
            </a:extLst>
          </p:cNvPr>
          <p:cNvSpPr txBox="1"/>
          <p:nvPr/>
        </p:nvSpPr>
        <p:spPr>
          <a:xfrm>
            <a:off x="4364354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DE693F-A46F-82B2-B7B9-678E5094DCBE}"/>
              </a:ext>
            </a:extLst>
          </p:cNvPr>
          <p:cNvSpPr txBox="1"/>
          <p:nvPr/>
        </p:nvSpPr>
        <p:spPr>
          <a:xfrm>
            <a:off x="7288836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2A775F-F740-EF01-21FE-01B432DC677A}"/>
              </a:ext>
            </a:extLst>
          </p:cNvPr>
          <p:cNvSpPr txBox="1"/>
          <p:nvPr/>
        </p:nvSpPr>
        <p:spPr>
          <a:xfrm>
            <a:off x="10213318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48575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DE967-7869-74CD-47AA-3B953E2A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9A68D-C06B-FDC2-EDD3-EDB78D110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0" b="21830"/>
          <a:stretch>
            <a:fillRect/>
          </a:stretch>
        </p:blipFill>
        <p:spPr>
          <a:xfrm>
            <a:off x="249953" y="4828540"/>
            <a:ext cx="2811366" cy="158394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492360-60D2-00BF-8D8D-64B1D04F3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Surface Angle by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FBF5CE-E779-B1E1-0BF1-E763B453ECC5}"/>
              </a:ext>
            </a:extLst>
          </p:cNvPr>
          <p:cNvSpPr txBox="1"/>
          <p:nvPr/>
        </p:nvSpPr>
        <p:spPr>
          <a:xfrm>
            <a:off x="3082585" y="1501922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AEEAA-13BF-99A8-7B7E-B4C14C80A7C0}"/>
              </a:ext>
            </a:extLst>
          </p:cNvPr>
          <p:cNvSpPr txBox="1"/>
          <p:nvPr/>
        </p:nvSpPr>
        <p:spPr>
          <a:xfrm>
            <a:off x="8145123" y="1501922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77F41D-A46A-960D-1D4A-102A86D59B1E}"/>
              </a:ext>
            </a:extLst>
          </p:cNvPr>
          <p:cNvSpPr txBox="1"/>
          <p:nvPr/>
        </p:nvSpPr>
        <p:spPr>
          <a:xfrm>
            <a:off x="1439872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E0C731-4200-9891-F4CD-355E84E14B87}"/>
              </a:ext>
            </a:extLst>
          </p:cNvPr>
          <p:cNvSpPr txBox="1"/>
          <p:nvPr/>
        </p:nvSpPr>
        <p:spPr>
          <a:xfrm>
            <a:off x="4364354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385AAE-3575-3AEF-3CEE-C5AF782C9B5F}"/>
              </a:ext>
            </a:extLst>
          </p:cNvPr>
          <p:cNvSpPr txBox="1"/>
          <p:nvPr/>
        </p:nvSpPr>
        <p:spPr>
          <a:xfrm>
            <a:off x="7288836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5AE407-ECFC-8A42-34F9-5909A0CAFDC0}"/>
              </a:ext>
            </a:extLst>
          </p:cNvPr>
          <p:cNvSpPr txBox="1"/>
          <p:nvPr/>
        </p:nvSpPr>
        <p:spPr>
          <a:xfrm>
            <a:off x="10213318" y="6450217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A44C0-C6C0-E836-AD51-D6F7D02C8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0" b="21830"/>
          <a:stretch>
            <a:fillRect/>
          </a:stretch>
        </p:blipFill>
        <p:spPr>
          <a:xfrm>
            <a:off x="3177940" y="4828540"/>
            <a:ext cx="2811366" cy="15839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C6022A-C5C5-1CE5-0515-EDD7FDB7C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0" b="21830"/>
          <a:stretch>
            <a:fillRect/>
          </a:stretch>
        </p:blipFill>
        <p:spPr>
          <a:xfrm>
            <a:off x="6086074" y="4828541"/>
            <a:ext cx="2811365" cy="15839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67E0D7-126B-2A61-A282-1939E9D699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85" b="21885"/>
          <a:stretch>
            <a:fillRect/>
          </a:stretch>
        </p:blipFill>
        <p:spPr>
          <a:xfrm>
            <a:off x="9020638" y="4828541"/>
            <a:ext cx="2816887" cy="15839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53D8A9-C09D-4E54-090A-4B9E9A5D3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27" b="21127"/>
          <a:stretch>
            <a:fillRect/>
          </a:stretch>
        </p:blipFill>
        <p:spPr>
          <a:xfrm>
            <a:off x="1122680" y="1996426"/>
            <a:ext cx="4351338" cy="25127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2D86CF-CCA4-D4A8-6ADB-D89E1C7847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0" b="20970"/>
          <a:stretch>
            <a:fillRect/>
          </a:stretch>
        </p:blipFill>
        <p:spPr>
          <a:xfrm>
            <a:off x="6185218" y="1989605"/>
            <a:ext cx="4351338" cy="252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5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A38F9-D06A-136B-C127-B71CCDE5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29B9732-DBC4-65BF-47D0-9E8913A60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87" b="21087"/>
          <a:stretch>
            <a:fillRect/>
          </a:stretch>
        </p:blipFill>
        <p:spPr>
          <a:xfrm>
            <a:off x="1473200" y="1960370"/>
            <a:ext cx="3650298" cy="21108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D8C8CB-82C4-3370-B226-3304298D9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87" b="21087"/>
          <a:stretch>
            <a:fillRect/>
          </a:stretch>
        </p:blipFill>
        <p:spPr>
          <a:xfrm>
            <a:off x="6535738" y="1960370"/>
            <a:ext cx="3650298" cy="211080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386CEAE-F3F3-4217-6AB8-D99CB9B6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Only the new ones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B8EE6-7E23-FED9-9449-F5A5AC476EB6}"/>
              </a:ext>
            </a:extLst>
          </p:cNvPr>
          <p:cNvSpPr txBox="1"/>
          <p:nvPr/>
        </p:nvSpPr>
        <p:spPr>
          <a:xfrm>
            <a:off x="3082585" y="1501922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37E94C-FA2A-6943-9812-B9E4D62573DD}"/>
              </a:ext>
            </a:extLst>
          </p:cNvPr>
          <p:cNvSpPr txBox="1"/>
          <p:nvPr/>
        </p:nvSpPr>
        <p:spPr>
          <a:xfrm>
            <a:off x="8145123" y="1501922"/>
            <a:ext cx="4315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/>
              <a:t>02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C708C-D9CC-ABE0-8BB0-248B38C0A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27" b="21127"/>
          <a:stretch>
            <a:fillRect/>
          </a:stretch>
        </p:blipFill>
        <p:spPr>
          <a:xfrm>
            <a:off x="1473200" y="4483101"/>
            <a:ext cx="3650298" cy="2107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5D3948-F1AE-B184-DBEE-1E2009D29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0" b="20970"/>
          <a:stretch>
            <a:fillRect/>
          </a:stretch>
        </p:blipFill>
        <p:spPr>
          <a:xfrm>
            <a:off x="6535738" y="4477379"/>
            <a:ext cx="3650298" cy="2119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B2EBFC-CBB4-8558-E818-8EAD972D3C60}"/>
              </a:ext>
            </a:extLst>
          </p:cNvPr>
          <p:cNvSpPr txBox="1"/>
          <p:nvPr/>
        </p:nvSpPr>
        <p:spPr>
          <a:xfrm>
            <a:off x="311421" y="2831108"/>
            <a:ext cx="105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Centroid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3AF31-374A-AF30-15B8-D6E7FF4EDD1C}"/>
              </a:ext>
            </a:extLst>
          </p:cNvPr>
          <p:cNvSpPr txBox="1"/>
          <p:nvPr/>
        </p:nvSpPr>
        <p:spPr>
          <a:xfrm>
            <a:off x="311421" y="5352389"/>
            <a:ext cx="951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Surface</a:t>
            </a:r>
          </a:p>
        </p:txBody>
      </p:sp>
    </p:spTree>
    <p:extLst>
      <p:ext uri="{BB962C8B-B14F-4D97-AF65-F5344CB8AC3E}">
        <p14:creationId xmlns:p14="http://schemas.microsoft.com/office/powerpoint/2010/main" val="127684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16B49-1329-C8CF-F5C2-E0A2DA38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3501D07-0496-1B6E-5904-1F866C06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All mitochondria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381F3-7FAB-07E5-9742-F73F4DE37503}"/>
              </a:ext>
            </a:extLst>
          </p:cNvPr>
          <p:cNvSpPr txBox="1"/>
          <p:nvPr/>
        </p:nvSpPr>
        <p:spPr>
          <a:xfrm>
            <a:off x="3035256" y="1506022"/>
            <a:ext cx="1854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New (chlamydia)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669F1-E2A1-F1BE-7970-55DA5686DAF5}"/>
              </a:ext>
            </a:extLst>
          </p:cNvPr>
          <p:cNvSpPr txBox="1"/>
          <p:nvPr/>
        </p:nvSpPr>
        <p:spPr>
          <a:xfrm>
            <a:off x="7887076" y="150602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137BD-CA5C-567E-0192-84AFB0DE3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2" b="15452"/>
          <a:stretch>
            <a:fillRect/>
          </a:stretch>
        </p:blipFill>
        <p:spPr>
          <a:xfrm>
            <a:off x="6332994" y="2025659"/>
            <a:ext cx="3650300" cy="2034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CD04E9-3E29-E4D7-8F5C-5B5528261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8" b="15488"/>
          <a:stretch>
            <a:fillRect/>
          </a:stretch>
        </p:blipFill>
        <p:spPr>
          <a:xfrm>
            <a:off x="1526374" y="4394638"/>
            <a:ext cx="3654221" cy="20340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A811E6-FA59-820E-A6C2-3860909A4C5C}"/>
              </a:ext>
            </a:extLst>
          </p:cNvPr>
          <p:cNvSpPr txBox="1"/>
          <p:nvPr/>
        </p:nvSpPr>
        <p:spPr>
          <a:xfrm>
            <a:off x="311421" y="2831108"/>
            <a:ext cx="105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Centroid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6DCD8-82E9-138D-BFB9-ED27CE1F7AF9}"/>
              </a:ext>
            </a:extLst>
          </p:cNvPr>
          <p:cNvSpPr txBox="1"/>
          <p:nvPr/>
        </p:nvSpPr>
        <p:spPr>
          <a:xfrm>
            <a:off x="311421" y="5226976"/>
            <a:ext cx="951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Surface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A39CD9-BDED-96DF-FCF7-B1633B416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39" b="16239"/>
          <a:stretch>
            <a:fillRect/>
          </a:stretch>
        </p:blipFill>
        <p:spPr>
          <a:xfrm>
            <a:off x="1530295" y="2025659"/>
            <a:ext cx="3650300" cy="198765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4D378D1-FBC0-8B78-B9C8-9C1776A4D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52" b="15452"/>
          <a:stretch>
            <a:fillRect/>
          </a:stretch>
        </p:blipFill>
        <p:spPr>
          <a:xfrm>
            <a:off x="6332994" y="4394638"/>
            <a:ext cx="3650300" cy="203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9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292A-9635-A44B-871E-43B4C2AB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91CD-3133-1806-670B-CBA3AA2EE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8000" dirty="0"/>
              <a:t>Outlier features</a:t>
            </a:r>
          </a:p>
        </p:txBody>
      </p:sp>
    </p:spTree>
    <p:extLst>
      <p:ext uri="{BB962C8B-B14F-4D97-AF65-F5344CB8AC3E}">
        <p14:creationId xmlns:p14="http://schemas.microsoft.com/office/powerpoint/2010/main" val="3126284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4980-23B0-8A6C-AAAF-7F05A4C5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Flagged Features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7C6BCF-4C28-12D6-B44D-E7B8BD72B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1044" y="1819275"/>
            <a:ext cx="8489912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6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2E85-B414-8BFE-572D-A51BAB578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09A6-F230-C0B7-CD23-B6C5A04A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Flagged Features &gt;2.5z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E8B211-BD5C-E021-CBDC-5D85B7821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745126"/>
              </p:ext>
            </p:extLst>
          </p:nvPr>
        </p:nvGraphicFramePr>
        <p:xfrm>
          <a:off x="24001" y="1499536"/>
          <a:ext cx="12096880" cy="4998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6505">
                  <a:extLst>
                    <a:ext uri="{9D8B030D-6E8A-4147-A177-3AD203B41FA5}">
                      <a16:colId xmlns:a16="http://schemas.microsoft.com/office/drawing/2014/main" val="908099444"/>
                    </a:ext>
                  </a:extLst>
                </a:gridCol>
                <a:gridCol w="1042797">
                  <a:extLst>
                    <a:ext uri="{9D8B030D-6E8A-4147-A177-3AD203B41FA5}">
                      <a16:colId xmlns:a16="http://schemas.microsoft.com/office/drawing/2014/main" val="304222866"/>
                    </a:ext>
                  </a:extLst>
                </a:gridCol>
                <a:gridCol w="1042797">
                  <a:extLst>
                    <a:ext uri="{9D8B030D-6E8A-4147-A177-3AD203B41FA5}">
                      <a16:colId xmlns:a16="http://schemas.microsoft.com/office/drawing/2014/main" val="1931972079"/>
                    </a:ext>
                  </a:extLst>
                </a:gridCol>
                <a:gridCol w="1042797">
                  <a:extLst>
                    <a:ext uri="{9D8B030D-6E8A-4147-A177-3AD203B41FA5}">
                      <a16:colId xmlns:a16="http://schemas.microsoft.com/office/drawing/2014/main" val="3431500333"/>
                    </a:ext>
                  </a:extLst>
                </a:gridCol>
                <a:gridCol w="5611984">
                  <a:extLst>
                    <a:ext uri="{9D8B030D-6E8A-4147-A177-3AD203B41FA5}">
                      <a16:colId xmlns:a16="http://schemas.microsoft.com/office/drawing/2014/main" val="4084811004"/>
                    </a:ext>
                  </a:extLst>
                </a:gridCol>
              </a:tblGrid>
              <a:tr h="3481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Plain English</a:t>
                      </a: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619706"/>
                  </a:ext>
                </a:extLst>
              </a:tr>
              <a:tr h="3750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nucleus_volume</a:t>
                      </a:r>
                      <a:endParaRPr lang="en-GB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Volume of the nucleus</a:t>
                      </a:r>
                    </a:p>
                  </a:txBody>
                  <a:tcPr marL="7620" marR="7620" marT="762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69463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mitocloud_anisotropy</a:t>
                      </a:r>
                      <a:endParaRPr lang="en-GB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3.82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How elongated (like aspect ratio)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511193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nucleus_mitocloud_L1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7.41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5.19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3.30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Spread along long axis</a:t>
                      </a:r>
                    </a:p>
                  </a:txBody>
                  <a:tcPr marL="7620" marR="7620" marT="762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197775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nucleus_mitocloud_L2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2.32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Spread along mid axis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284408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nucleus_distance_of_centroids</a:t>
                      </a:r>
                      <a:endParaRPr lang="en-GB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2.29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Distance between nuc centroid and mitocloud centroid</a:t>
                      </a:r>
                    </a:p>
                  </a:txBody>
                  <a:tcPr marL="7620" marR="7620" marT="762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486344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mito_volume_mean</a:t>
                      </a:r>
                      <a:endParaRPr lang="en-GB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-3.11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-2.55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Mean volume of mitochondria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61717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mito_volume_total</a:t>
                      </a:r>
                      <a:endParaRPr lang="en-GB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-2.55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Total volume of all mitochondria</a:t>
                      </a:r>
                    </a:p>
                  </a:txBody>
                  <a:tcPr marL="7620" marR="7620" marT="762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58331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mito_surface_area_mean</a:t>
                      </a:r>
                      <a:endParaRPr lang="en-GB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-6.65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-6.14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-3.62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Mean surf. area of mitochondria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650873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mito_centroid_distance_mean</a:t>
                      </a:r>
                      <a:endParaRPr lang="en-GB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4.75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4.19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3.00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Mean mitochondria distance to nucleus centroid</a:t>
                      </a:r>
                    </a:p>
                  </a:txBody>
                  <a:tcPr marL="7620" marR="7620" marT="762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666823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mito_surface_distance_mean</a:t>
                      </a:r>
                      <a:endParaRPr lang="en-GB" sz="18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3.86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4.39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Mean mitochondria distance to nucleus surface</a:t>
                      </a:r>
                    </a:p>
                  </a:txBody>
                  <a:tcPr marL="7620" marR="7620" marT="7620" marB="0" anchor="b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6355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mito_volume_fraction</a:t>
                      </a:r>
                      <a:endParaRPr lang="en-GB" sz="18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-3.27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-3.53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GB" sz="18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Ratio of mitochondrial volume to nuclear volume</a:t>
                      </a:r>
                    </a:p>
                  </a:txBody>
                  <a:tcPr marL="7620" marR="7620" marT="762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11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46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1D5E-3956-1F1B-CB0C-100ECBCF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Flagged Features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2D070E-CF95-1F9C-4A0E-419CC37B5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684761"/>
              </p:ext>
            </p:extLst>
          </p:nvPr>
        </p:nvGraphicFramePr>
        <p:xfrm>
          <a:off x="12000" y="1527858"/>
          <a:ext cx="12168000" cy="521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90809944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04222866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931972079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431500333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4084811004"/>
                    </a:ext>
                  </a:extLst>
                </a:gridCol>
              </a:tblGrid>
              <a:tr h="34812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Cell 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Cell 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Plain English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619706"/>
                  </a:ext>
                </a:extLst>
              </a:tr>
              <a:tr h="375020"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nucleus_volume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2.53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Volume of the nucleus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69463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 err="1"/>
                        <a:t>mitocloud_anisotropy</a:t>
                      </a:r>
                      <a:endParaRPr lang="en-GB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10.20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 err="1"/>
                        <a:t>mitocloud_anisotropy</a:t>
                      </a:r>
                      <a:endParaRPr lang="en-GB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4.50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How elongated (like aspect ratio)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511193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nucleus_mitocloud_L1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7.41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nucleus_mitocloud_L1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5.19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Spread along long axis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197775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nucleus_mitocloud_L2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Spread along mid axis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284408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 err="1"/>
                        <a:t>nucleus_distance_of_centroids</a:t>
                      </a:r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2.29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Distance between </a:t>
                      </a:r>
                      <a:r>
                        <a:rPr lang="en-GB" sz="1500" b="0" dirty="0" err="1"/>
                        <a:t>nuc</a:t>
                      </a:r>
                      <a:r>
                        <a:rPr lang="en-GB" sz="1500" b="0" dirty="0"/>
                        <a:t> centroid and </a:t>
                      </a:r>
                      <a:r>
                        <a:rPr lang="en-GB" sz="1500" b="0" dirty="0" err="1"/>
                        <a:t>mitocloud</a:t>
                      </a:r>
                      <a:r>
                        <a:rPr lang="en-GB" sz="1500" b="0" dirty="0"/>
                        <a:t> centroid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486344"/>
                  </a:ext>
                </a:extLst>
              </a:tr>
              <a:tr h="348127"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 err="1"/>
                        <a:t>mito_volume_mean</a:t>
                      </a:r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-3.11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mito_volume_mean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-2.55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Mean volume of mitochondria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761717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 err="1"/>
                        <a:t>mito_volume_total</a:t>
                      </a:r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-2.55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Total volume of all mitochondria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58331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 err="1"/>
                        <a:t>mito_surface_area_mean</a:t>
                      </a:r>
                      <a:endParaRPr lang="en-GB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-6.65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mito_surface_area_mean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-6.14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Mean surf. area of mitochondria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650873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mito_centroid_distance_mean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4.75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 err="1"/>
                        <a:t>mito_centroid_distance_mean</a:t>
                      </a:r>
                      <a:endParaRPr lang="en-GB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4.19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Mean mitochondria distance to nucleus centroid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666823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 err="1"/>
                        <a:t>mito_surface_distance_mean</a:t>
                      </a:r>
                      <a:endParaRPr lang="en-GB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3.86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 err="1"/>
                        <a:t>mito_surface_distance_mean</a:t>
                      </a:r>
                      <a:endParaRPr lang="en-GB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4.39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Mean mitochondria distance to nucleus surface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6355"/>
                  </a:ext>
                </a:extLst>
              </a:tr>
              <a:tr h="480539"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mito_volume_fraction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 err="1"/>
                        <a:t>mito_volume_fraction</a:t>
                      </a:r>
                      <a:endParaRPr lang="en-GB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-3.53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0" dirty="0"/>
                        <a:t>Ratio of mitochondrial volume to nuclear volume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11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88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Office PowerPoint</Application>
  <PresentationFormat>Widescreen</PresentationFormat>
  <Paragraphs>142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HeLa</vt:lpstr>
      <vt:lpstr>Orientations</vt:lpstr>
      <vt:lpstr>Centroid Angle by Cell</vt:lpstr>
      <vt:lpstr>Surface Angle by Cell</vt:lpstr>
      <vt:lpstr>Only the new ones</vt:lpstr>
      <vt:lpstr>All mitochondria</vt:lpstr>
      <vt:lpstr>Outlier features</vt:lpstr>
      <vt:lpstr>Flagged Features</vt:lpstr>
      <vt:lpstr>Flagged Features &gt;2.5z</vt:lpstr>
      <vt:lpstr>Flagged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Brito</dc:creator>
  <cp:lastModifiedBy>Daniel Brito</cp:lastModifiedBy>
  <cp:revision>5</cp:revision>
  <dcterms:created xsi:type="dcterms:W3CDTF">2026-09-08T10:26:33Z</dcterms:created>
  <dcterms:modified xsi:type="dcterms:W3CDTF">2026-10-08T17:02:41Z</dcterms:modified>
</cp:coreProperties>
</file>