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844C-5F32-4E7F-B14D-5FDAD5E3F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D5789-7E18-435E-B10F-3B7831669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28912-D798-4676-AED6-B827EB0E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A2D7F-0F85-49EA-9340-B769A73A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AC1C3-AD6E-4C01-B738-5FD6E49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49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1364-B8D3-4D88-86BD-180CB79E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2D5AD-F970-4E30-9279-A476EDDE9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AA236-D5E2-480B-8802-59DCEB78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3CF03-7DA5-49BE-B438-CE0B9F678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E2FDC-53B7-483D-8201-387A1BBBE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01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CFC97-C923-4529-BF66-066D35992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49E7B-B60C-47E6-A5E9-2EB2EEF5B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A8024-5144-4736-BEE2-5B1C0F6B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8359-067C-40D2-9033-7AAAF2B4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CDB8E-8F71-4490-87F3-B54F09B0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978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FBA7F-95C0-4483-844C-D80C29FF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DC363-B8ED-47AD-B02C-843403186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A34D27-8598-4B62-9806-660746C06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6EAA8-A650-4DDE-A8D8-F4C49E0A1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22DB5-6976-450C-8FD8-23F7C04E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9AB51-C860-4262-A205-E2627AA0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202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D96F-0676-48AD-B1FC-CE0B2926A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B2454-4D67-4B86-9894-9E22FA0B5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73EDF-8BCC-4B9C-A4B9-A9C7F7335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766A7-2EC5-4BFD-B740-0E851537A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3D3D5-AC91-490F-9F89-093F2729E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872073-8202-4C26-BA89-0E2629B34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AF53D-D74F-4AFC-B1EE-5BCAC1DD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5B184E-E275-4070-BF2E-E483F795C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63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D15A-1F0C-48C6-B971-468B5CE5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0E57F-1E58-4DE2-A946-74706342E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3A699-7860-4B42-9F08-9A3F47BB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304C4-A359-47C0-A2E2-705CF059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01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6A7D5-0BF8-40DC-8855-098A740F6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E1EF1A-051E-46F6-9450-0A10932B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BC654-C57A-41DE-ABDB-C423FB9BC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86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CD9D-53C8-4FE1-9098-891947882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D2787-24A5-4584-99F8-198FC561B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1CA2B-8331-4CE8-91B3-82D00BF7C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17351-576F-41A6-A50F-91B800A19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63699-4B14-421C-813F-A3EAFFA4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70E25-455A-47EA-A7FD-F0255E093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26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8C97-C9F1-48F4-BFF6-0F62AA115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50A50-C256-40B2-BF74-F879C40115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13E4C-1EC1-4231-B97C-C9BA5CF2D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013D1-0A8F-47C3-82F5-DF672516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77041-7629-46D1-A440-EF52DD16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48A1A-13D4-4DB6-90C4-8C626F73E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24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209C-D402-40B4-8299-7A558E33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424F1-7281-4A2C-9EFF-1C2293222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966B0-2CFB-4559-8445-C1F684207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AFC21-3B46-4E1C-8D1F-90BE39C49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2F314-78D5-4DAE-9C08-73C5D7CF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692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1A5CC0-47B1-4331-A82A-9E222B7BA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D03FC-249A-4C55-81C8-E1497A95F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A2FEA-3359-45A7-9370-F86D97AA4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0909C-3EB4-4982-BC4B-AC83E201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8ED25-0801-4276-87E2-A304833D8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24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36F43-AC63-4DEE-8849-4F4061BF8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12924-A56B-4E6B-96D4-FA8E95252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A294-0CE9-4B97-9EF7-F155635E9D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479C4-ABA9-4A18-993C-65DA9D01EC03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C8B69-841C-443A-9BF0-7681155618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C9677-A2EE-4FFB-9791-A6713EFBE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92AB9-3559-4EA0-9272-EC753FD149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12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cellimagelibrary.org/images/5005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D60A-C832-4837-87C7-46498175A9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Instrucciones</a:t>
            </a:r>
            <a:r>
              <a:rPr lang="en-GB" dirty="0"/>
              <a:t> para </a:t>
            </a:r>
            <a:r>
              <a:rPr lang="en-GB" dirty="0" err="1"/>
              <a:t>segmentar</a:t>
            </a:r>
            <a:r>
              <a:rPr lang="en-GB" dirty="0"/>
              <a:t> </a:t>
            </a:r>
            <a:r>
              <a:rPr lang="en-GB" dirty="0" err="1"/>
              <a:t>células</a:t>
            </a:r>
            <a:r>
              <a:rPr lang="en-GB" dirty="0"/>
              <a:t> HeLa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A366C4-1C12-4F65-8611-E2A4DF282E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9499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A. </a:t>
            </a:r>
            <a:r>
              <a:rPr lang="en-GB" dirty="0" err="1"/>
              <a:t>Instalar</a:t>
            </a:r>
            <a:r>
              <a:rPr lang="en-GB" dirty="0"/>
              <a:t> Octave / MATLAB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CA05-DE72-459A-A8AE-88AC8FAEA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Octave es opensource y </a:t>
            </a:r>
            <a:r>
              <a:rPr lang="en-GB" dirty="0" err="1"/>
              <a:t>funciona</a:t>
            </a:r>
            <a:r>
              <a:rPr lang="en-GB" dirty="0"/>
              <a:t> </a:t>
            </a:r>
            <a:r>
              <a:rPr lang="en-GB" dirty="0" err="1"/>
              <a:t>muy</a:t>
            </a:r>
            <a:r>
              <a:rPr lang="en-GB" dirty="0"/>
              <a:t> similar a MATLAB.</a:t>
            </a:r>
          </a:p>
          <a:p>
            <a:endParaRPr lang="en-GB" dirty="0"/>
          </a:p>
          <a:p>
            <a:r>
              <a:rPr lang="en-GB" dirty="0"/>
              <a:t>MATLAB </a:t>
            </a:r>
            <a:r>
              <a:rPr lang="en-GB" dirty="0" err="1"/>
              <a:t>ofrece</a:t>
            </a:r>
            <a:r>
              <a:rPr lang="en-GB" dirty="0"/>
              <a:t> version gratis de 30 </a:t>
            </a:r>
            <a:r>
              <a:rPr lang="en-GB" dirty="0" err="1"/>
              <a:t>días</a:t>
            </a:r>
            <a:r>
              <a:rPr lang="en-GB" dirty="0"/>
              <a:t>: https://uk.mathworks.com/campaigns/products/trials.html</a:t>
            </a:r>
          </a:p>
        </p:txBody>
      </p:sp>
    </p:spTree>
    <p:extLst>
      <p:ext uri="{BB962C8B-B14F-4D97-AF65-F5344CB8AC3E}">
        <p14:creationId xmlns:p14="http://schemas.microsoft.com/office/powerpoint/2010/main" val="1196996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B. </a:t>
            </a:r>
            <a:r>
              <a:rPr lang="en-GB" dirty="0" err="1"/>
              <a:t>Descargar</a:t>
            </a:r>
            <a:r>
              <a:rPr lang="en-GB" dirty="0"/>
              <a:t> conjunto de </a:t>
            </a:r>
            <a:r>
              <a:rPr lang="en-GB" dirty="0" err="1"/>
              <a:t>imágenes</a:t>
            </a:r>
            <a:r>
              <a:rPr lang="en-GB" dirty="0"/>
              <a:t> CIL50051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CA05-DE72-459A-A8AE-88AC8FAEA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1"/>
            <a:ext cx="10515600" cy="969264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https://www.cellimagelibrary.org/images/50051</a:t>
            </a:r>
            <a:r>
              <a:rPr lang="en-GB" dirty="0"/>
              <a:t> </a:t>
            </a:r>
            <a:r>
              <a:rPr lang="en-GB" dirty="0" err="1"/>
              <a:t>Descargar</a:t>
            </a:r>
            <a:r>
              <a:rPr lang="en-GB" dirty="0"/>
              <a:t> DOWNSAMPLED DATA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8E71E-617B-4880-AE44-7D0C7C613A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125" t="11555" r="57175"/>
          <a:stretch/>
        </p:blipFill>
        <p:spPr>
          <a:xfrm>
            <a:off x="1078992" y="2316416"/>
            <a:ext cx="5477256" cy="424051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8AE234E-FC7A-457A-B48F-63A35B84BE2E}"/>
              </a:ext>
            </a:extLst>
          </p:cNvPr>
          <p:cNvSpPr/>
          <p:nvPr/>
        </p:nvSpPr>
        <p:spPr>
          <a:xfrm>
            <a:off x="1078992" y="5513832"/>
            <a:ext cx="1088136" cy="45720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CBF568-D39D-40D7-930A-DB9202AE91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425" t="26240" r="83650" b="59120"/>
          <a:stretch/>
        </p:blipFill>
        <p:spPr>
          <a:xfrm>
            <a:off x="6423685" y="3791173"/>
            <a:ext cx="4654246" cy="238579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9E318-002E-4F84-942B-FE8A3560317B}"/>
              </a:ext>
            </a:extLst>
          </p:cNvPr>
          <p:cNvCxnSpPr>
            <a:cxnSpLocks/>
          </p:cNvCxnSpPr>
          <p:nvPr/>
        </p:nvCxnSpPr>
        <p:spPr>
          <a:xfrm>
            <a:off x="6646189" y="5513832"/>
            <a:ext cx="300987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808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5F1F7C1-341A-4D43-9806-57FEDA00B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4" y="2026920"/>
            <a:ext cx="3587496" cy="35874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1. Ver las </a:t>
            </a:r>
            <a:r>
              <a:rPr lang="en-GB" sz="3200" dirty="0" err="1"/>
              <a:t>imágenes</a:t>
            </a:r>
            <a:r>
              <a:rPr lang="en-GB" sz="3200" dirty="0"/>
              <a:t> y </a:t>
            </a:r>
            <a:r>
              <a:rPr lang="en-GB" sz="3200" dirty="0" err="1"/>
              <a:t>escoger</a:t>
            </a:r>
            <a:r>
              <a:rPr lang="en-GB" sz="3200" dirty="0"/>
              <a:t> una </a:t>
            </a:r>
            <a:r>
              <a:rPr lang="en-GB" sz="3200" dirty="0" err="1"/>
              <a:t>célula</a:t>
            </a:r>
            <a:r>
              <a:rPr lang="en-GB" sz="3200" dirty="0"/>
              <a:t> para </a:t>
            </a:r>
            <a:r>
              <a:rPr lang="en-GB" sz="3200" dirty="0" err="1"/>
              <a:t>segmentar</a:t>
            </a:r>
            <a:r>
              <a:rPr lang="en-GB" sz="32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1"/>
            <a:ext cx="10515600" cy="969264"/>
          </a:xfrm>
        </p:spPr>
        <p:txBody>
          <a:bodyPr/>
          <a:lstStyle/>
          <a:p>
            <a:r>
              <a:rPr lang="en-GB" dirty="0"/>
              <a:t>Las </a:t>
            </a:r>
            <a:r>
              <a:rPr lang="en-GB" dirty="0" err="1"/>
              <a:t>células</a:t>
            </a:r>
            <a:r>
              <a:rPr lang="en-GB" dirty="0"/>
              <a:t> que </a:t>
            </a:r>
            <a:r>
              <a:rPr lang="en-GB" dirty="0" err="1"/>
              <a:t>ya</a:t>
            </a:r>
            <a:r>
              <a:rPr lang="en-GB" dirty="0"/>
              <a:t> se </a:t>
            </a:r>
            <a:r>
              <a:rPr lang="en-GB" dirty="0" err="1"/>
              <a:t>segmentaron</a:t>
            </a:r>
            <a:r>
              <a:rPr lang="en-GB" dirty="0"/>
              <a:t> son: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991DEC-5635-4607-BFFC-F884C01D7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6616" y="2026920"/>
            <a:ext cx="3587496" cy="3587496"/>
          </a:xfrm>
          <a:prstGeom prst="rect">
            <a:avLst/>
          </a:prstGeom>
        </p:spPr>
      </p:pic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B56ABF1C-1268-41C6-BACC-11FE3E24220A}"/>
              </a:ext>
            </a:extLst>
          </p:cNvPr>
          <p:cNvSpPr/>
          <p:nvPr/>
        </p:nvSpPr>
        <p:spPr>
          <a:xfrm>
            <a:off x="5449824" y="4617720"/>
            <a:ext cx="310896" cy="310896"/>
          </a:xfrm>
          <a:prstGeom prst="donu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BAC4B-E1EA-4713-A23B-24A2AC20C817}"/>
              </a:ext>
            </a:extLst>
          </p:cNvPr>
          <p:cNvSpPr txBox="1"/>
          <p:nvPr/>
        </p:nvSpPr>
        <p:spPr>
          <a:xfrm>
            <a:off x="4166616" y="5614416"/>
            <a:ext cx="358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Slice 0150</a:t>
            </a:r>
          </a:p>
        </p:txBody>
      </p:sp>
      <p:sp>
        <p:nvSpPr>
          <p:cNvPr id="17" name="Circle: Hollow 16">
            <a:extLst>
              <a:ext uri="{FF2B5EF4-FFF2-40B4-BE49-F238E27FC236}">
                <a16:creationId xmlns:a16="http://schemas.microsoft.com/office/drawing/2014/main" id="{C61A0A62-071B-440D-A235-1A80646F7C90}"/>
              </a:ext>
            </a:extLst>
          </p:cNvPr>
          <p:cNvSpPr/>
          <p:nvPr/>
        </p:nvSpPr>
        <p:spPr>
          <a:xfrm>
            <a:off x="7019544" y="2916937"/>
            <a:ext cx="310896" cy="310896"/>
          </a:xfrm>
          <a:prstGeom prst="donu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1" name="Circle: Hollow 20">
            <a:extLst>
              <a:ext uri="{FF2B5EF4-FFF2-40B4-BE49-F238E27FC236}">
                <a16:creationId xmlns:a16="http://schemas.microsoft.com/office/drawing/2014/main" id="{F334234E-6E25-4DD6-A25D-4DFE429B606E}"/>
              </a:ext>
            </a:extLst>
          </p:cNvPr>
          <p:cNvSpPr/>
          <p:nvPr/>
        </p:nvSpPr>
        <p:spPr>
          <a:xfrm>
            <a:off x="1862328" y="4430007"/>
            <a:ext cx="310896" cy="310896"/>
          </a:xfrm>
          <a:prstGeom prst="donut">
            <a:avLst/>
          </a:prstGeom>
          <a:solidFill>
            <a:srgbClr val="92D050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32300-3221-4D5E-8E2F-F1B8B8A1BB96}"/>
              </a:ext>
            </a:extLst>
          </p:cNvPr>
          <p:cNvSpPr txBox="1"/>
          <p:nvPr/>
        </p:nvSpPr>
        <p:spPr>
          <a:xfrm>
            <a:off x="435864" y="5609583"/>
            <a:ext cx="358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Slice 0060</a:t>
            </a:r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A99BA7D9-9054-47ED-8461-A872C8E8115E}"/>
              </a:ext>
            </a:extLst>
          </p:cNvPr>
          <p:cNvSpPr/>
          <p:nvPr/>
        </p:nvSpPr>
        <p:spPr>
          <a:xfrm>
            <a:off x="3096768" y="2840736"/>
            <a:ext cx="310896" cy="310896"/>
          </a:xfrm>
          <a:prstGeom prst="donu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8ACA4245-E2A0-41B8-BC89-01752E4176AA}"/>
              </a:ext>
            </a:extLst>
          </p:cNvPr>
          <p:cNvSpPr/>
          <p:nvPr/>
        </p:nvSpPr>
        <p:spPr>
          <a:xfrm>
            <a:off x="5940552" y="4146544"/>
            <a:ext cx="310896" cy="310896"/>
          </a:xfrm>
          <a:prstGeom prst="donu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92245E2-8C2D-4901-8D2F-CBA78438B9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368" y="2026920"/>
            <a:ext cx="3582663" cy="358266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657EDC9-9DDA-432B-87A7-C092D1B1542A}"/>
              </a:ext>
            </a:extLst>
          </p:cNvPr>
          <p:cNvSpPr txBox="1"/>
          <p:nvPr/>
        </p:nvSpPr>
        <p:spPr>
          <a:xfrm>
            <a:off x="7897368" y="5614416"/>
            <a:ext cx="3587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Slice 0244</a:t>
            </a:r>
          </a:p>
        </p:txBody>
      </p:sp>
      <p:sp>
        <p:nvSpPr>
          <p:cNvPr id="32" name="Circle: Hollow 31">
            <a:extLst>
              <a:ext uri="{FF2B5EF4-FFF2-40B4-BE49-F238E27FC236}">
                <a16:creationId xmlns:a16="http://schemas.microsoft.com/office/drawing/2014/main" id="{5FBAB852-6965-4FE0-86AC-EA4AD87F9E82}"/>
              </a:ext>
            </a:extLst>
          </p:cNvPr>
          <p:cNvSpPr/>
          <p:nvPr/>
        </p:nvSpPr>
        <p:spPr>
          <a:xfrm>
            <a:off x="10791444" y="2991291"/>
            <a:ext cx="310896" cy="310896"/>
          </a:xfrm>
          <a:prstGeom prst="donu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Circle: Hollow 32">
            <a:extLst>
              <a:ext uri="{FF2B5EF4-FFF2-40B4-BE49-F238E27FC236}">
                <a16:creationId xmlns:a16="http://schemas.microsoft.com/office/drawing/2014/main" id="{139998DC-877E-4DC5-AAF5-DE5A872C72C1}"/>
              </a:ext>
            </a:extLst>
          </p:cNvPr>
          <p:cNvSpPr/>
          <p:nvPr/>
        </p:nvSpPr>
        <p:spPr>
          <a:xfrm>
            <a:off x="9760077" y="4471416"/>
            <a:ext cx="310896" cy="310896"/>
          </a:xfrm>
          <a:prstGeom prst="donu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9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1. Ver las </a:t>
            </a:r>
            <a:r>
              <a:rPr lang="en-GB" sz="3200" dirty="0" err="1"/>
              <a:t>imágenes</a:t>
            </a:r>
            <a:r>
              <a:rPr lang="en-GB" sz="3200" dirty="0"/>
              <a:t> y </a:t>
            </a:r>
            <a:r>
              <a:rPr lang="en-GB" sz="3200" dirty="0" err="1"/>
              <a:t>escoger</a:t>
            </a:r>
            <a:r>
              <a:rPr lang="en-GB" sz="3200" dirty="0"/>
              <a:t> una </a:t>
            </a:r>
            <a:r>
              <a:rPr lang="en-GB" sz="3200" dirty="0" err="1"/>
              <a:t>célula</a:t>
            </a:r>
            <a:r>
              <a:rPr lang="en-GB" sz="3200" dirty="0"/>
              <a:t> para </a:t>
            </a:r>
            <a:r>
              <a:rPr lang="en-GB" sz="3200" dirty="0" err="1"/>
              <a:t>segmentar</a:t>
            </a:r>
            <a:r>
              <a:rPr lang="en-GB" sz="32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1"/>
            <a:ext cx="10515600" cy="969264"/>
          </a:xfrm>
        </p:spPr>
        <p:txBody>
          <a:bodyPr/>
          <a:lstStyle/>
          <a:p>
            <a:r>
              <a:rPr lang="en-GB" dirty="0" err="1"/>
              <a:t>Sugiero</a:t>
            </a:r>
            <a:r>
              <a:rPr lang="en-GB" dirty="0"/>
              <a:t> </a:t>
            </a:r>
            <a:r>
              <a:rPr lang="en-GB" dirty="0" err="1"/>
              <a:t>segmentar</a:t>
            </a:r>
            <a:r>
              <a:rPr lang="en-GB" dirty="0"/>
              <a:t> </a:t>
            </a:r>
            <a:r>
              <a:rPr lang="en-GB" dirty="0" err="1"/>
              <a:t>esta</a:t>
            </a:r>
            <a:r>
              <a:rPr lang="en-GB" dirty="0"/>
              <a:t>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19B1AE-0162-471D-AEA2-5164005A60C8}"/>
              </a:ext>
            </a:extLst>
          </p:cNvPr>
          <p:cNvGrpSpPr/>
          <p:nvPr/>
        </p:nvGrpSpPr>
        <p:grpSpPr>
          <a:xfrm>
            <a:off x="3807714" y="1901953"/>
            <a:ext cx="4576572" cy="5047730"/>
            <a:chOff x="4166616" y="2284095"/>
            <a:chExt cx="3587496" cy="395682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991DEC-5635-4607-BFFC-F884C01D7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6616" y="2284095"/>
              <a:ext cx="3587496" cy="3587496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1BAC4B-E1EA-4713-A23B-24A2AC20C817}"/>
                </a:ext>
              </a:extLst>
            </p:cNvPr>
            <p:cNvSpPr txBox="1"/>
            <p:nvPr/>
          </p:nvSpPr>
          <p:spPr>
            <a:xfrm>
              <a:off x="4166616" y="5871591"/>
              <a:ext cx="3587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Slice 0150</a:t>
              </a:r>
            </a:p>
          </p:txBody>
        </p:sp>
        <p:sp>
          <p:nvSpPr>
            <p:cNvPr id="17" name="Circle: Hollow 16">
              <a:extLst>
                <a:ext uri="{FF2B5EF4-FFF2-40B4-BE49-F238E27FC236}">
                  <a16:creationId xmlns:a16="http://schemas.microsoft.com/office/drawing/2014/main" id="{C61A0A62-071B-440D-A235-1A80646F7C90}"/>
                </a:ext>
              </a:extLst>
            </p:cNvPr>
            <p:cNvSpPr/>
            <p:nvPr/>
          </p:nvSpPr>
          <p:spPr>
            <a:xfrm>
              <a:off x="5085969" y="3095434"/>
              <a:ext cx="310896" cy="310896"/>
            </a:xfrm>
            <a:prstGeom prst="donut">
              <a:avLst/>
            </a:prstGeom>
            <a:solidFill>
              <a:srgbClr val="0070C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515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1. Ver las </a:t>
            </a:r>
            <a:r>
              <a:rPr lang="en-GB" sz="3200" dirty="0" err="1"/>
              <a:t>imágenes</a:t>
            </a:r>
            <a:r>
              <a:rPr lang="en-GB" sz="3200" dirty="0"/>
              <a:t> y </a:t>
            </a:r>
            <a:r>
              <a:rPr lang="en-GB" sz="3200" dirty="0" err="1"/>
              <a:t>escoger</a:t>
            </a:r>
            <a:r>
              <a:rPr lang="en-GB" sz="3200" dirty="0"/>
              <a:t> una </a:t>
            </a:r>
            <a:r>
              <a:rPr lang="en-GB" sz="3200" dirty="0" err="1"/>
              <a:t>célula</a:t>
            </a:r>
            <a:r>
              <a:rPr lang="en-GB" sz="3200" dirty="0"/>
              <a:t> para </a:t>
            </a:r>
            <a:r>
              <a:rPr lang="en-GB" sz="3200" dirty="0" err="1"/>
              <a:t>segmentar</a:t>
            </a:r>
            <a:r>
              <a:rPr lang="en-GB" sz="32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2849879"/>
          </a:xfrm>
        </p:spPr>
        <p:txBody>
          <a:bodyPr>
            <a:normAutofit/>
          </a:bodyPr>
          <a:lstStyle/>
          <a:p>
            <a:r>
              <a:rPr lang="en-GB" dirty="0" err="1"/>
              <a:t>Debes</a:t>
            </a:r>
            <a:r>
              <a:rPr lang="en-GB" dirty="0"/>
              <a:t> </a:t>
            </a:r>
            <a:r>
              <a:rPr lang="en-GB" dirty="0" err="1"/>
              <a:t>ver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qué</a:t>
            </a:r>
            <a:r>
              <a:rPr lang="en-GB" dirty="0"/>
              <a:t> </a:t>
            </a:r>
            <a:r>
              <a:rPr lang="en-GB" dirty="0" err="1"/>
              <a:t>rebanada</a:t>
            </a:r>
            <a:r>
              <a:rPr lang="en-GB" dirty="0"/>
              <a:t> </a:t>
            </a:r>
            <a:r>
              <a:rPr lang="en-GB" dirty="0" err="1"/>
              <a:t>empieza</a:t>
            </a:r>
            <a:r>
              <a:rPr lang="en-GB" dirty="0"/>
              <a:t> a </a:t>
            </a:r>
            <a:r>
              <a:rPr lang="en-GB" dirty="0" err="1"/>
              <a:t>aparecer</a:t>
            </a:r>
            <a:r>
              <a:rPr lang="en-GB" dirty="0"/>
              <a:t> y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cuál</a:t>
            </a:r>
            <a:r>
              <a:rPr lang="en-GB" dirty="0"/>
              <a:t> </a:t>
            </a:r>
            <a:r>
              <a:rPr lang="en-GB" dirty="0" err="1"/>
              <a:t>desaparece</a:t>
            </a:r>
            <a:r>
              <a:rPr lang="en-GB" dirty="0"/>
              <a:t>. </a:t>
            </a:r>
            <a:r>
              <a:rPr lang="en-GB" dirty="0" err="1"/>
              <a:t>Esos</a:t>
            </a:r>
            <a:r>
              <a:rPr lang="en-GB" dirty="0"/>
              <a:t> </a:t>
            </a:r>
            <a:r>
              <a:rPr lang="en-GB" dirty="0" err="1"/>
              <a:t>valores</a:t>
            </a:r>
            <a:r>
              <a:rPr lang="en-GB" dirty="0"/>
              <a:t> van a ser </a:t>
            </a:r>
            <a:r>
              <a:rPr lang="en-GB" dirty="0" err="1"/>
              <a:t>z_lo</a:t>
            </a:r>
            <a:r>
              <a:rPr lang="en-GB" dirty="0"/>
              <a:t>, </a:t>
            </a:r>
            <a:r>
              <a:rPr lang="en-GB" dirty="0" err="1"/>
              <a:t>z_hi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No hay </a:t>
            </a:r>
            <a:r>
              <a:rPr lang="en-GB" dirty="0" err="1"/>
              <a:t>criterio</a:t>
            </a:r>
            <a:r>
              <a:rPr lang="en-GB" dirty="0"/>
              <a:t> </a:t>
            </a:r>
            <a:r>
              <a:rPr lang="en-GB" dirty="0" err="1"/>
              <a:t>riguroso</a:t>
            </a:r>
            <a:r>
              <a:rPr lang="en-GB" dirty="0"/>
              <a:t>,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consideres</a:t>
            </a:r>
            <a:r>
              <a:rPr lang="en-GB" dirty="0"/>
              <a:t> que </a:t>
            </a:r>
            <a:r>
              <a:rPr lang="en-GB" dirty="0" err="1"/>
              <a:t>aparezca</a:t>
            </a:r>
            <a:r>
              <a:rPr lang="en-GB" dirty="0"/>
              <a:t> por </a:t>
            </a:r>
            <a:r>
              <a:rPr lang="en-GB" dirty="0" err="1"/>
              <a:t>primera</a:t>
            </a:r>
            <a:r>
              <a:rPr lang="en-GB" dirty="0"/>
              <a:t> </a:t>
            </a:r>
            <a:r>
              <a:rPr lang="en-GB" dirty="0" err="1"/>
              <a:t>vez</a:t>
            </a:r>
            <a:r>
              <a:rPr lang="en-GB" dirty="0"/>
              <a:t>, y </a:t>
            </a:r>
            <a:r>
              <a:rPr lang="en-GB" dirty="0" err="1"/>
              <a:t>dónde</a:t>
            </a:r>
            <a:r>
              <a:rPr lang="en-GB" dirty="0"/>
              <a:t> </a:t>
            </a:r>
            <a:r>
              <a:rPr lang="en-GB" dirty="0" err="1"/>
              <a:t>consideres</a:t>
            </a:r>
            <a:r>
              <a:rPr lang="en-GB" dirty="0"/>
              <a:t> que </a:t>
            </a:r>
            <a:r>
              <a:rPr lang="en-GB" dirty="0" err="1"/>
              <a:t>ya</a:t>
            </a:r>
            <a:r>
              <a:rPr lang="en-GB" dirty="0"/>
              <a:t> no </a:t>
            </a:r>
            <a:r>
              <a:rPr lang="en-GB" dirty="0" err="1"/>
              <a:t>queda</a:t>
            </a:r>
            <a:r>
              <a:rPr lang="en-GB" dirty="0"/>
              <a:t> nada visible.</a:t>
            </a:r>
          </a:p>
          <a:p>
            <a:pPr lvl="1"/>
            <a:r>
              <a:rPr lang="en-GB" dirty="0"/>
              <a:t>Es </a:t>
            </a:r>
            <a:r>
              <a:rPr lang="en-GB" dirty="0" err="1"/>
              <a:t>buena</a:t>
            </a:r>
            <a:r>
              <a:rPr lang="en-GB" dirty="0"/>
              <a:t> idea de </a:t>
            </a:r>
            <a:r>
              <a:rPr lang="en-GB" dirty="0" err="1"/>
              <a:t>dónde</a:t>
            </a:r>
            <a:r>
              <a:rPr lang="en-GB" dirty="0"/>
              <a:t> </a:t>
            </a:r>
            <a:r>
              <a:rPr lang="en-GB" dirty="0" err="1"/>
              <a:t>piensas</a:t>
            </a:r>
            <a:r>
              <a:rPr lang="en-GB" dirty="0"/>
              <a:t> que </a:t>
            </a:r>
            <a:r>
              <a:rPr lang="en-GB" dirty="0" err="1"/>
              <a:t>aparece</a:t>
            </a:r>
            <a:r>
              <a:rPr lang="en-GB" dirty="0"/>
              <a:t>, </a:t>
            </a:r>
            <a:r>
              <a:rPr lang="en-GB" dirty="0" err="1"/>
              <a:t>sumarle</a:t>
            </a:r>
            <a:r>
              <a:rPr lang="en-GB" dirty="0"/>
              <a:t> 5 </a:t>
            </a:r>
            <a:r>
              <a:rPr lang="en-GB" dirty="0" err="1"/>
              <a:t>rebanadas</a:t>
            </a:r>
            <a:r>
              <a:rPr lang="en-GB" dirty="0"/>
              <a:t> a </a:t>
            </a:r>
            <a:r>
              <a:rPr lang="en-GB" dirty="0" err="1"/>
              <a:t>z_max</a:t>
            </a:r>
            <a:r>
              <a:rPr lang="en-GB" dirty="0"/>
              <a:t> y </a:t>
            </a:r>
            <a:r>
              <a:rPr lang="en-GB" dirty="0" err="1"/>
              <a:t>restarle</a:t>
            </a:r>
            <a:r>
              <a:rPr lang="en-GB" dirty="0"/>
              <a:t> 5 a </a:t>
            </a:r>
            <a:r>
              <a:rPr lang="en-GB" dirty="0" err="1"/>
              <a:t>z_min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3247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1. Ver las </a:t>
            </a:r>
            <a:r>
              <a:rPr lang="en-GB" sz="3200" dirty="0" err="1"/>
              <a:t>imágenes</a:t>
            </a:r>
            <a:r>
              <a:rPr lang="en-GB" sz="3200" dirty="0"/>
              <a:t> y </a:t>
            </a:r>
            <a:r>
              <a:rPr lang="en-GB" sz="3200" dirty="0" err="1"/>
              <a:t>escoger</a:t>
            </a:r>
            <a:r>
              <a:rPr lang="en-GB" sz="3200" dirty="0"/>
              <a:t> una </a:t>
            </a:r>
            <a:r>
              <a:rPr lang="en-GB" sz="3200" dirty="0" err="1"/>
              <a:t>célula</a:t>
            </a:r>
            <a:r>
              <a:rPr lang="en-GB" sz="3200" dirty="0"/>
              <a:t> para </a:t>
            </a:r>
            <a:r>
              <a:rPr lang="en-GB" sz="3200" dirty="0" err="1"/>
              <a:t>segmentar</a:t>
            </a:r>
            <a:r>
              <a:rPr lang="en-GB" sz="3200" dirty="0"/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4371975" cy="5311700"/>
          </a:xfrm>
        </p:spPr>
        <p:txBody>
          <a:bodyPr>
            <a:normAutofit/>
          </a:bodyPr>
          <a:lstStyle/>
          <a:p>
            <a:r>
              <a:rPr lang="en-GB" sz="2400" dirty="0" err="1"/>
              <a:t>También</a:t>
            </a:r>
            <a:r>
              <a:rPr lang="en-GB" sz="2400" dirty="0"/>
              <a:t> </a:t>
            </a:r>
            <a:r>
              <a:rPr lang="en-GB" sz="2400" dirty="0" err="1"/>
              <a:t>debes</a:t>
            </a:r>
            <a:r>
              <a:rPr lang="en-GB" sz="2400" dirty="0"/>
              <a:t> </a:t>
            </a:r>
            <a:r>
              <a:rPr lang="en-GB" sz="2400" dirty="0" err="1"/>
              <a:t>ver</a:t>
            </a:r>
            <a:r>
              <a:rPr lang="en-GB" sz="2400" dirty="0"/>
              <a:t>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dirty="0" err="1"/>
              <a:t>qué</a:t>
            </a:r>
            <a:r>
              <a:rPr lang="en-GB" sz="2400" dirty="0"/>
              <a:t> </a:t>
            </a:r>
            <a:r>
              <a:rPr lang="en-GB" sz="2400" dirty="0" err="1"/>
              <a:t>coordenadas</a:t>
            </a:r>
            <a:r>
              <a:rPr lang="en-GB" sz="2400" dirty="0"/>
              <a:t> </a:t>
            </a:r>
            <a:r>
              <a:rPr lang="en-GB" sz="2400" i="1" dirty="0" err="1"/>
              <a:t>x,y</a:t>
            </a:r>
            <a:r>
              <a:rPr lang="en-GB" sz="2400" dirty="0"/>
              <a:t> </a:t>
            </a:r>
            <a:r>
              <a:rPr lang="en-GB" sz="2400" dirty="0" err="1"/>
              <a:t>está</a:t>
            </a:r>
            <a:r>
              <a:rPr lang="en-GB" sz="2400" dirty="0"/>
              <a:t> la </a:t>
            </a:r>
            <a:r>
              <a:rPr lang="en-GB" sz="2400" dirty="0" err="1"/>
              <a:t>célula</a:t>
            </a:r>
            <a:r>
              <a:rPr lang="en-GB" sz="2400" dirty="0"/>
              <a:t>.</a:t>
            </a:r>
          </a:p>
          <a:p>
            <a:r>
              <a:rPr lang="en-GB" sz="2400" dirty="0"/>
              <a:t>Si </a:t>
            </a:r>
            <a:r>
              <a:rPr lang="en-GB" sz="2400" dirty="0" err="1"/>
              <a:t>abres</a:t>
            </a:r>
            <a:r>
              <a:rPr lang="en-GB" sz="2400" dirty="0"/>
              <a:t> una de las </a:t>
            </a:r>
            <a:r>
              <a:rPr lang="en-GB" sz="2400" dirty="0" err="1"/>
              <a:t>rebanadas</a:t>
            </a:r>
            <a:r>
              <a:rPr lang="en-GB" sz="2400" dirty="0"/>
              <a:t> </a:t>
            </a:r>
            <a:r>
              <a:rPr lang="en-GB" sz="2400" dirty="0" err="1"/>
              <a:t>en</a:t>
            </a:r>
            <a:r>
              <a:rPr lang="en-GB" sz="2400" dirty="0"/>
              <a:t> </a:t>
            </a:r>
            <a:r>
              <a:rPr lang="en-GB" sz="2400" b="1" dirty="0"/>
              <a:t>paint</a:t>
            </a:r>
            <a:r>
              <a:rPr lang="en-GB" sz="2400" dirty="0"/>
              <a:t> </a:t>
            </a:r>
            <a:r>
              <a:rPr lang="en-GB" sz="2400" dirty="0" err="1"/>
              <a:t>puedes</a:t>
            </a:r>
            <a:r>
              <a:rPr lang="en-GB" sz="2400" dirty="0"/>
              <a:t> </a:t>
            </a:r>
            <a:r>
              <a:rPr lang="en-GB" sz="2400" dirty="0" err="1"/>
              <a:t>poner</a:t>
            </a:r>
            <a:r>
              <a:rPr lang="en-GB" sz="2400" dirty="0"/>
              <a:t> </a:t>
            </a:r>
            <a:r>
              <a:rPr lang="en-GB" sz="2400" dirty="0" err="1"/>
              <a:t>tu</a:t>
            </a:r>
            <a:r>
              <a:rPr lang="en-GB" sz="2400" dirty="0"/>
              <a:t> cursor </a:t>
            </a:r>
            <a:r>
              <a:rPr lang="en-GB" sz="2400" dirty="0" err="1"/>
              <a:t>en</a:t>
            </a:r>
            <a:r>
              <a:rPr lang="en-GB" sz="2400" dirty="0"/>
              <a:t> las </a:t>
            </a:r>
            <a:r>
              <a:rPr lang="en-GB" sz="2400" dirty="0" err="1"/>
              <a:t>esquinas</a:t>
            </a:r>
            <a:r>
              <a:rPr lang="en-GB" sz="2400" dirty="0"/>
              <a:t> del </a:t>
            </a:r>
            <a:r>
              <a:rPr lang="en-GB" sz="2400" dirty="0" err="1"/>
              <a:t>cuadro</a:t>
            </a:r>
            <a:r>
              <a:rPr lang="en-GB" sz="2400" dirty="0"/>
              <a:t> que </a:t>
            </a:r>
            <a:r>
              <a:rPr lang="en-GB" sz="2400" dirty="0" err="1"/>
              <a:t>encapsularía</a:t>
            </a:r>
            <a:r>
              <a:rPr lang="en-GB" sz="2400" dirty="0"/>
              <a:t> la </a:t>
            </a:r>
            <a:r>
              <a:rPr lang="en-GB" sz="2400" dirty="0" err="1"/>
              <a:t>célula</a:t>
            </a:r>
            <a:r>
              <a:rPr lang="en-GB" sz="2400" dirty="0"/>
              <a:t> (</a:t>
            </a:r>
            <a:r>
              <a:rPr lang="en-GB" sz="2400" dirty="0" err="1"/>
              <a:t>llamado</a:t>
            </a:r>
            <a:r>
              <a:rPr lang="en-GB" sz="2400" dirty="0"/>
              <a:t> </a:t>
            </a:r>
            <a:r>
              <a:rPr lang="en-GB" sz="2400" i="1" dirty="0"/>
              <a:t>bounding box</a:t>
            </a:r>
            <a:r>
              <a:rPr lang="en-GB" sz="2400" dirty="0"/>
              <a:t>).</a:t>
            </a:r>
          </a:p>
          <a:p>
            <a:r>
              <a:rPr lang="en-GB" sz="2400" dirty="0" err="1"/>
              <a:t>Así</a:t>
            </a:r>
            <a:r>
              <a:rPr lang="en-GB" sz="2400" dirty="0"/>
              <a:t> </a:t>
            </a:r>
            <a:r>
              <a:rPr lang="en-GB" sz="2400" dirty="0" err="1"/>
              <a:t>puedes</a:t>
            </a:r>
            <a:r>
              <a:rPr lang="en-GB" sz="2400" dirty="0"/>
              <a:t> </a:t>
            </a:r>
            <a:r>
              <a:rPr lang="en-GB" sz="2400" dirty="0" err="1"/>
              <a:t>estimar</a:t>
            </a:r>
            <a:r>
              <a:rPr lang="en-GB" sz="2400" dirty="0"/>
              <a:t> los </a:t>
            </a:r>
            <a:r>
              <a:rPr lang="en-GB" sz="2400" dirty="0" err="1"/>
              <a:t>valores</a:t>
            </a:r>
            <a:r>
              <a:rPr lang="en-GB" sz="2400" dirty="0"/>
              <a:t> </a:t>
            </a:r>
            <a:r>
              <a:rPr lang="en-GB" sz="2400" i="1" dirty="0" err="1"/>
              <a:t>x,y</a:t>
            </a:r>
            <a:r>
              <a:rPr lang="en-GB" sz="2400" i="1" dirty="0"/>
              <a:t>, </a:t>
            </a:r>
            <a:r>
              <a:rPr lang="en-GB" sz="2400" i="1" dirty="0" err="1"/>
              <a:t>w,h</a:t>
            </a:r>
            <a:r>
              <a:rPr lang="en-GB" sz="2400" i="1" dirty="0"/>
              <a:t> </a:t>
            </a:r>
            <a:r>
              <a:rPr lang="en-GB" sz="2400" dirty="0"/>
              <a:t>(</a:t>
            </a:r>
            <a:r>
              <a:rPr lang="en-GB" sz="2400" i="1" dirty="0" err="1"/>
              <a:t>w,h</a:t>
            </a:r>
            <a:r>
              <a:rPr lang="en-GB" sz="2400" i="1" dirty="0"/>
              <a:t> </a:t>
            </a:r>
            <a:r>
              <a:rPr lang="en-GB" sz="2400" dirty="0"/>
              <a:t>son el </a:t>
            </a:r>
            <a:r>
              <a:rPr lang="en-GB" sz="2400" dirty="0" err="1"/>
              <a:t>tamaño</a:t>
            </a:r>
            <a:r>
              <a:rPr lang="en-GB" sz="2400" dirty="0"/>
              <a:t> de la bounding box)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886825-66E0-40DC-8949-4A47F3C825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781" b="383"/>
          <a:stretch/>
        </p:blipFill>
        <p:spPr>
          <a:xfrm>
            <a:off x="5372100" y="1287222"/>
            <a:ext cx="5981700" cy="544179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9F60417-16CD-49E1-BCDA-C3C7A00EF55C}"/>
              </a:ext>
            </a:extLst>
          </p:cNvPr>
          <p:cNvGrpSpPr/>
          <p:nvPr/>
        </p:nvGrpSpPr>
        <p:grpSpPr>
          <a:xfrm>
            <a:off x="5575696" y="2155031"/>
            <a:ext cx="182166" cy="190500"/>
            <a:chOff x="5806678" y="2324100"/>
            <a:chExt cx="182166" cy="1905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7FFB303-2097-404C-8CA4-9CA813DCC430}"/>
                </a:ext>
              </a:extLst>
            </p:cNvPr>
            <p:cNvCxnSpPr>
              <a:cxnSpLocks/>
            </p:cNvCxnSpPr>
            <p:nvPr/>
          </p:nvCxnSpPr>
          <p:spPr>
            <a:xfrm>
              <a:off x="5897761" y="2324100"/>
              <a:ext cx="0" cy="19050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014E1A5-AB8D-4060-B6FA-1FE9E2C767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6678" y="2419350"/>
              <a:ext cx="182166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F8A8C77-C6A6-4DEF-BB2B-D8AB1BD1E827}"/>
              </a:ext>
            </a:extLst>
          </p:cNvPr>
          <p:cNvSpPr/>
          <p:nvPr/>
        </p:nvSpPr>
        <p:spPr>
          <a:xfrm>
            <a:off x="5314951" y="6373812"/>
            <a:ext cx="623887" cy="23812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889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2. </a:t>
            </a:r>
            <a:r>
              <a:rPr lang="en-GB" sz="3200" dirty="0" err="1"/>
              <a:t>Usando</a:t>
            </a:r>
            <a:r>
              <a:rPr lang="en-GB" sz="3200" dirty="0"/>
              <a:t> MATLAB, </a:t>
            </a:r>
            <a:r>
              <a:rPr lang="en-GB" sz="3200" dirty="0" err="1"/>
              <a:t>sacar</a:t>
            </a:r>
            <a:r>
              <a:rPr lang="en-GB" sz="3200" dirty="0"/>
              <a:t> el crop de las </a:t>
            </a:r>
            <a:r>
              <a:rPr lang="en-GB" sz="3200" dirty="0" err="1"/>
              <a:t>imágenes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4321999"/>
          </a:xfrm>
        </p:spPr>
        <p:txBody>
          <a:bodyPr>
            <a:normAutofit/>
          </a:bodyPr>
          <a:lstStyle/>
          <a:p>
            <a:r>
              <a:rPr lang="en-GB" dirty="0" err="1"/>
              <a:t>Usando</a:t>
            </a:r>
            <a:r>
              <a:rPr lang="en-GB" dirty="0"/>
              <a:t> </a:t>
            </a:r>
            <a:r>
              <a:rPr lang="en-GB" dirty="0" err="1"/>
              <a:t>z_lo</a:t>
            </a:r>
            <a:r>
              <a:rPr lang="en-GB" dirty="0"/>
              <a:t>, </a:t>
            </a:r>
            <a:r>
              <a:rPr lang="en-GB" dirty="0" err="1"/>
              <a:t>z_hi</a:t>
            </a:r>
            <a:r>
              <a:rPr lang="en-GB" dirty="0"/>
              <a:t>, x, y, w, h, </a:t>
            </a:r>
            <a:r>
              <a:rPr lang="en-GB" dirty="0" err="1"/>
              <a:t>correr</a:t>
            </a:r>
            <a:r>
              <a:rPr lang="en-GB" dirty="0"/>
              <a:t> la </a:t>
            </a:r>
            <a:r>
              <a:rPr lang="en-GB" dirty="0" err="1"/>
              <a:t>función</a:t>
            </a:r>
            <a:r>
              <a:rPr lang="en-GB" dirty="0"/>
              <a:t> </a:t>
            </a:r>
            <a:r>
              <a:rPr lang="en-GB" i="1" dirty="0" err="1"/>
              <a:t>cropTiffs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MATLAB:</a:t>
            </a:r>
          </a:p>
          <a:p>
            <a:pPr lvl="1"/>
            <a:r>
              <a:rPr lang="en-GB" dirty="0" err="1"/>
              <a:t>cropTiffs</a:t>
            </a:r>
            <a:r>
              <a:rPr lang="en-GB" dirty="0"/>
              <a:t>(</a:t>
            </a:r>
            <a:r>
              <a:rPr lang="en-GB" dirty="0" err="1"/>
              <a:t>tiffdir</a:t>
            </a:r>
            <a:r>
              <a:rPr lang="en-GB" dirty="0"/>
              <a:t>, x, y, </a:t>
            </a:r>
            <a:r>
              <a:rPr lang="en-GB" dirty="0" err="1"/>
              <a:t>z_lo</a:t>
            </a:r>
            <a:r>
              <a:rPr lang="en-GB" dirty="0"/>
              <a:t>, </a:t>
            </a:r>
            <a:r>
              <a:rPr lang="en-GB" dirty="0" err="1"/>
              <a:t>z_hi</a:t>
            </a:r>
            <a:r>
              <a:rPr lang="en-GB" dirty="0"/>
              <a:t>, w, h, </a:t>
            </a:r>
            <a:r>
              <a:rPr lang="en-GB" dirty="0" err="1"/>
              <a:t>outdir</a:t>
            </a:r>
            <a:r>
              <a:rPr lang="en-GB" dirty="0"/>
              <a:t>)</a:t>
            </a:r>
          </a:p>
          <a:p>
            <a:r>
              <a:rPr lang="en-GB" dirty="0"/>
              <a:t>DEBES DECLARAR </a:t>
            </a:r>
            <a:r>
              <a:rPr lang="en-GB" dirty="0" err="1"/>
              <a:t>tiffdir</a:t>
            </a:r>
            <a:r>
              <a:rPr lang="en-GB" dirty="0"/>
              <a:t> y </a:t>
            </a:r>
            <a:r>
              <a:rPr lang="en-GB" dirty="0" err="1"/>
              <a:t>outdir</a:t>
            </a:r>
            <a:r>
              <a:rPr lang="en-GB" dirty="0"/>
              <a:t> antes de corer.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 err="1"/>
              <a:t>Llamar</a:t>
            </a:r>
            <a:r>
              <a:rPr lang="en-GB" dirty="0"/>
              <a:t> el Directorio </a:t>
            </a:r>
            <a:r>
              <a:rPr lang="en-GB" dirty="0" err="1"/>
              <a:t>outdir</a:t>
            </a:r>
            <a:r>
              <a:rPr lang="en-GB" dirty="0"/>
              <a:t> “ROI_04_Tiffs_xxxx_yyyy_zlo_zhi_wwww_hhhh”</a:t>
            </a:r>
          </a:p>
          <a:p>
            <a:pPr lvl="1"/>
            <a:r>
              <a:rPr lang="en-GB" dirty="0"/>
              <a:t>Donde: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4D35D-212C-40AD-B1CC-BE61B58015F2}"/>
              </a:ext>
            </a:extLst>
          </p:cNvPr>
          <p:cNvSpPr txBox="1"/>
          <p:nvPr/>
        </p:nvSpPr>
        <p:spPr>
          <a:xfrm>
            <a:off x="1704975" y="3495675"/>
            <a:ext cx="3171825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Dónde</a:t>
            </a:r>
            <a:r>
              <a:rPr lang="en-GB" dirty="0"/>
              <a:t> </a:t>
            </a:r>
            <a:r>
              <a:rPr lang="en-GB" dirty="0" err="1"/>
              <a:t>tienes</a:t>
            </a:r>
            <a:r>
              <a:rPr lang="en-GB" dirty="0"/>
              <a:t> las </a:t>
            </a:r>
            <a:r>
              <a:rPr lang="en-GB" dirty="0" err="1"/>
              <a:t>imágenes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BDE24F-5D0E-4F7E-8D4E-77DD73E6494A}"/>
              </a:ext>
            </a:extLst>
          </p:cNvPr>
          <p:cNvCxnSpPr>
            <a:cxnSpLocks/>
            <a:endCxn id="3" idx="0"/>
          </p:cNvCxnSpPr>
          <p:nvPr/>
        </p:nvCxnSpPr>
        <p:spPr>
          <a:xfrm flipH="1">
            <a:off x="3290888" y="2714625"/>
            <a:ext cx="776288" cy="78105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882AC1F-C6B5-4AC5-A693-188B231860AC}"/>
              </a:ext>
            </a:extLst>
          </p:cNvPr>
          <p:cNvSpPr txBox="1"/>
          <p:nvPr/>
        </p:nvSpPr>
        <p:spPr>
          <a:xfrm>
            <a:off x="5176938" y="3495675"/>
            <a:ext cx="3171825" cy="36933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 err="1"/>
              <a:t>Dónde</a:t>
            </a:r>
            <a:r>
              <a:rPr lang="en-GB" dirty="0"/>
              <a:t> van a </a:t>
            </a:r>
            <a:r>
              <a:rPr lang="en-GB" dirty="0" err="1"/>
              <a:t>salir</a:t>
            </a:r>
            <a:r>
              <a:rPr lang="en-GB" dirty="0"/>
              <a:t> los crops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7F9E71-41F0-4FC4-AA0B-C7BC7E89DAD6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5710338" y="2742883"/>
            <a:ext cx="1052513" cy="75279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FFC65F8-5F41-EEDA-8E82-61364FA10BC3}"/>
              </a:ext>
            </a:extLst>
          </p:cNvPr>
          <p:cNvSpPr txBox="1"/>
          <p:nvPr/>
        </p:nvSpPr>
        <p:spPr>
          <a:xfrm>
            <a:off x="593386" y="5476145"/>
            <a:ext cx="10760414" cy="923330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xxxx</a:t>
            </a:r>
            <a:r>
              <a:rPr lang="en-GB" dirty="0"/>
              <a:t> = x a 4 </a:t>
            </a:r>
            <a:r>
              <a:rPr lang="en-GB" dirty="0" err="1"/>
              <a:t>dígitos</a:t>
            </a: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yyyy</a:t>
            </a:r>
            <a:r>
              <a:rPr lang="en-GB" dirty="0"/>
              <a:t> = y a 4 </a:t>
            </a:r>
            <a:r>
              <a:rPr lang="en-GB" dirty="0" err="1"/>
              <a:t>dígitos</a:t>
            </a: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zlo</a:t>
            </a:r>
            <a:r>
              <a:rPr lang="en-GB" dirty="0"/>
              <a:t> = </a:t>
            </a:r>
            <a:r>
              <a:rPr lang="en-GB" dirty="0" err="1"/>
              <a:t>z_lo</a:t>
            </a:r>
            <a:r>
              <a:rPr lang="en-GB" dirty="0"/>
              <a:t> a 3 </a:t>
            </a:r>
            <a:r>
              <a:rPr lang="en-GB" dirty="0" err="1"/>
              <a:t>dígitos</a:t>
            </a: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zhi</a:t>
            </a:r>
            <a:r>
              <a:rPr lang="en-GB" dirty="0"/>
              <a:t> = </a:t>
            </a:r>
            <a:r>
              <a:rPr lang="en-GB" dirty="0" err="1"/>
              <a:t>z_hi</a:t>
            </a:r>
            <a:r>
              <a:rPr lang="en-GB" dirty="0"/>
              <a:t> a 3 </a:t>
            </a:r>
            <a:r>
              <a:rPr lang="en-GB" dirty="0" err="1"/>
              <a:t>dígitos</a:t>
            </a: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wwww</a:t>
            </a:r>
            <a:r>
              <a:rPr lang="en-GB" dirty="0"/>
              <a:t> = w a 4 </a:t>
            </a:r>
            <a:r>
              <a:rPr lang="en-GB" dirty="0" err="1"/>
              <a:t>dígitos</a:t>
            </a:r>
            <a:endParaRPr lang="en-GB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 err="1"/>
              <a:t>hhhh</a:t>
            </a:r>
            <a:r>
              <a:rPr lang="en-GB" dirty="0"/>
              <a:t> = h a 4 </a:t>
            </a:r>
            <a:r>
              <a:rPr lang="en-GB" dirty="0" err="1"/>
              <a:t>dígitos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115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3. </a:t>
            </a:r>
            <a:r>
              <a:rPr lang="en-GB" sz="3200" dirty="0" err="1"/>
              <a:t>Segmentar</a:t>
            </a:r>
            <a:r>
              <a:rPr lang="en-GB" sz="3200" dirty="0"/>
              <a:t> el </a:t>
            </a:r>
            <a:r>
              <a:rPr lang="en-GB" sz="3200" dirty="0" err="1"/>
              <a:t>núcleo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3967480"/>
          </a:xfrm>
        </p:spPr>
        <p:txBody>
          <a:bodyPr>
            <a:normAutofit/>
          </a:bodyPr>
          <a:lstStyle/>
          <a:p>
            <a:r>
              <a:rPr lang="en-GB" dirty="0" err="1"/>
              <a:t>Usando</a:t>
            </a:r>
            <a:r>
              <a:rPr lang="en-GB" dirty="0"/>
              <a:t> la </a:t>
            </a:r>
            <a:r>
              <a:rPr lang="en-GB" dirty="0" err="1"/>
              <a:t>función</a:t>
            </a:r>
            <a:r>
              <a:rPr lang="en-GB" dirty="0"/>
              <a:t> segmentNucleiHelaEM_3D.</a:t>
            </a:r>
          </a:p>
          <a:p>
            <a:r>
              <a:rPr lang="en-GB" dirty="0"/>
              <a:t>SOLAMENTE PASAR EL PARÁMETRO </a:t>
            </a:r>
            <a:r>
              <a:rPr lang="en-GB" dirty="0" err="1"/>
              <a:t>baseDir</a:t>
            </a:r>
            <a:r>
              <a:rPr lang="en-GB" dirty="0"/>
              <a:t>: debe ser el </a:t>
            </a:r>
            <a:r>
              <a:rPr lang="en-GB" dirty="0" err="1"/>
              <a:t>mismo</a:t>
            </a:r>
            <a:r>
              <a:rPr lang="en-GB" dirty="0"/>
              <a:t> que </a:t>
            </a:r>
            <a:r>
              <a:rPr lang="en-GB" dirty="0" err="1"/>
              <a:t>outputdir</a:t>
            </a:r>
            <a:r>
              <a:rPr lang="en-GB" dirty="0"/>
              <a:t> de la </a:t>
            </a:r>
            <a:r>
              <a:rPr lang="en-GB" dirty="0" err="1"/>
              <a:t>función</a:t>
            </a:r>
            <a:r>
              <a:rPr lang="en-GB" dirty="0"/>
              <a:t> anterior.</a:t>
            </a:r>
          </a:p>
          <a:p>
            <a:r>
              <a:rPr lang="en-GB" dirty="0" err="1"/>
              <a:t>Guardar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dos variables [</a:t>
            </a:r>
            <a:r>
              <a:rPr lang="en-GB" dirty="0" err="1"/>
              <a:t>nuc</a:t>
            </a:r>
            <a:r>
              <a:rPr lang="en-GB" dirty="0"/>
              <a:t>, </a:t>
            </a:r>
            <a:r>
              <a:rPr lang="en-GB" dirty="0" err="1"/>
              <a:t>bg</a:t>
            </a:r>
            <a:r>
              <a:rPr lang="en-GB" dirty="0"/>
              <a:t>].</a:t>
            </a:r>
          </a:p>
          <a:p>
            <a:r>
              <a:rPr lang="en-GB" dirty="0" err="1"/>
              <a:t>Ejemplo</a:t>
            </a:r>
            <a:r>
              <a:rPr lang="en-GB" dirty="0"/>
              <a:t>:</a:t>
            </a:r>
          </a:p>
          <a:p>
            <a:pPr lvl="1"/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02AF1-5CBE-4318-84CA-6117787022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292" t="75333" r="20129" b="20667"/>
          <a:stretch/>
        </p:blipFill>
        <p:spPr>
          <a:xfrm>
            <a:off x="1041399" y="3862832"/>
            <a:ext cx="10109201" cy="7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58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3. </a:t>
            </a:r>
            <a:r>
              <a:rPr lang="en-GB" sz="3200" dirty="0" err="1"/>
              <a:t>Segmentar</a:t>
            </a:r>
            <a:r>
              <a:rPr lang="en-GB" sz="3200" dirty="0"/>
              <a:t> el </a:t>
            </a:r>
            <a:r>
              <a:rPr lang="en-GB" sz="3200" dirty="0" err="1"/>
              <a:t>núcleo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3967480"/>
          </a:xfrm>
        </p:spPr>
        <p:txBody>
          <a:bodyPr>
            <a:normAutofit/>
          </a:bodyPr>
          <a:lstStyle/>
          <a:p>
            <a:r>
              <a:rPr lang="en-GB" dirty="0" err="1"/>
              <a:t>Guardar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tu</a:t>
            </a:r>
            <a:r>
              <a:rPr lang="en-GB" dirty="0"/>
              <a:t> disco </a:t>
            </a:r>
            <a:r>
              <a:rPr lang="en-GB" dirty="0" err="1"/>
              <a:t>duro</a:t>
            </a:r>
            <a:r>
              <a:rPr lang="en-GB" dirty="0"/>
              <a:t> </a:t>
            </a:r>
            <a:r>
              <a:rPr lang="en-GB" dirty="0" err="1"/>
              <a:t>usando</a:t>
            </a:r>
            <a:r>
              <a:rPr lang="en-GB" dirty="0"/>
              <a:t> save.</a:t>
            </a:r>
          </a:p>
          <a:p>
            <a:r>
              <a:rPr lang="en-GB" dirty="0"/>
              <a:t>Debes pasar la </a:t>
            </a:r>
            <a:r>
              <a:rPr lang="en-GB" dirty="0" err="1"/>
              <a:t>ubicación</a:t>
            </a:r>
            <a:r>
              <a:rPr lang="en-GB" dirty="0"/>
              <a:t> y el </a:t>
            </a:r>
            <a:r>
              <a:rPr lang="en-GB" dirty="0" err="1"/>
              <a:t>nombre</a:t>
            </a:r>
            <a:r>
              <a:rPr lang="en-GB" dirty="0"/>
              <a:t> de la variable.</a:t>
            </a:r>
          </a:p>
          <a:p>
            <a:r>
              <a:rPr lang="en-GB" dirty="0" err="1"/>
              <a:t>Ejemplo</a:t>
            </a:r>
            <a:r>
              <a:rPr lang="en-GB" dirty="0"/>
              <a:t> (</a:t>
            </a:r>
            <a:r>
              <a:rPr lang="en-GB" dirty="0" err="1"/>
              <a:t>reemplazar</a:t>
            </a:r>
            <a:r>
              <a:rPr lang="en-GB" dirty="0"/>
              <a:t> por una </a:t>
            </a:r>
            <a:r>
              <a:rPr lang="en-GB" dirty="0" err="1"/>
              <a:t>ubicación</a:t>
            </a:r>
            <a:r>
              <a:rPr lang="en-GB" dirty="0"/>
              <a:t> local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tu</a:t>
            </a:r>
            <a:r>
              <a:rPr lang="en-GB" dirty="0"/>
              <a:t> </a:t>
            </a:r>
            <a:r>
              <a:rPr lang="en-GB" dirty="0" err="1"/>
              <a:t>computadora</a:t>
            </a:r>
            <a:r>
              <a:rPr lang="en-GB" dirty="0"/>
              <a:t>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B89217-3C4C-4052-B4CF-58F5F30149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400" t="74960" r="23350" b="21920"/>
          <a:stretch/>
        </p:blipFill>
        <p:spPr>
          <a:xfrm>
            <a:off x="950975" y="2915258"/>
            <a:ext cx="8285871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E0812-1051-47E3-BC97-11B05756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4. </a:t>
            </a:r>
            <a:r>
              <a:rPr lang="en-GB" sz="3200" dirty="0" err="1"/>
              <a:t>Segmentar</a:t>
            </a:r>
            <a:r>
              <a:rPr lang="en-GB" sz="3200" dirty="0"/>
              <a:t> MANUALMENTE la </a:t>
            </a:r>
            <a:r>
              <a:rPr lang="en-GB" sz="3200" dirty="0" err="1"/>
              <a:t>membrana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B4B2709-8037-45EB-A834-9B7CF7D5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3967480"/>
          </a:xfrm>
        </p:spPr>
        <p:txBody>
          <a:bodyPr>
            <a:normAutofit/>
          </a:bodyPr>
          <a:lstStyle/>
          <a:p>
            <a:r>
              <a:rPr lang="en-GB" dirty="0" err="1"/>
              <a:t>Usando</a:t>
            </a:r>
            <a:r>
              <a:rPr lang="en-GB" dirty="0"/>
              <a:t> la </a:t>
            </a:r>
            <a:r>
              <a:rPr lang="en-GB" dirty="0" err="1"/>
              <a:t>función</a:t>
            </a:r>
            <a:r>
              <a:rPr lang="en-GB" dirty="0"/>
              <a:t> </a:t>
            </a:r>
            <a:r>
              <a:rPr lang="en-GB" dirty="0" err="1"/>
              <a:t>segmentManual</a:t>
            </a:r>
            <a:r>
              <a:rPr lang="en-GB" dirty="0"/>
              <a:t>.</a:t>
            </a:r>
          </a:p>
          <a:p>
            <a:r>
              <a:rPr lang="en-GB" dirty="0"/>
              <a:t>Pasar el </a:t>
            </a:r>
            <a:r>
              <a:rPr lang="en-GB" dirty="0" err="1"/>
              <a:t>parámetro</a:t>
            </a:r>
            <a:r>
              <a:rPr lang="en-GB" dirty="0"/>
              <a:t> </a:t>
            </a:r>
            <a:r>
              <a:rPr lang="en-GB" dirty="0" err="1"/>
              <a:t>baseDir</a:t>
            </a:r>
            <a:r>
              <a:rPr lang="en-GB" dirty="0"/>
              <a:t>: </a:t>
            </a:r>
            <a:r>
              <a:rPr lang="en-GB" dirty="0" err="1"/>
              <a:t>debe</a:t>
            </a:r>
            <a:r>
              <a:rPr lang="en-GB" dirty="0"/>
              <a:t> ser el </a:t>
            </a:r>
            <a:r>
              <a:rPr lang="en-GB" dirty="0" err="1"/>
              <a:t>mismo</a:t>
            </a:r>
            <a:r>
              <a:rPr lang="en-GB" dirty="0"/>
              <a:t> </a:t>
            </a:r>
            <a:r>
              <a:rPr lang="en-GB" dirty="0" err="1"/>
              <a:t>directorio</a:t>
            </a:r>
            <a:r>
              <a:rPr lang="en-GB" dirty="0"/>
              <a:t>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tienes</a:t>
            </a:r>
            <a:r>
              <a:rPr lang="en-GB" dirty="0"/>
              <a:t> las </a:t>
            </a:r>
            <a:r>
              <a:rPr lang="en-GB" dirty="0" err="1"/>
              <a:t>imágenes</a:t>
            </a:r>
            <a:r>
              <a:rPr lang="en-GB" dirty="0"/>
              <a:t> </a:t>
            </a:r>
            <a:r>
              <a:rPr lang="en-GB" dirty="0" err="1"/>
              <a:t>cropeadas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08B57-C3C8-E90D-58CA-9ECBDE00B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09" y="2895553"/>
            <a:ext cx="10170005" cy="1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60362-6463-5AD0-8AE5-BE8482745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977C-AC9D-D6D3-2297-FE478AE1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4. </a:t>
            </a:r>
            <a:r>
              <a:rPr lang="en-GB" sz="3200" dirty="0" err="1"/>
              <a:t>Segmentar</a:t>
            </a:r>
            <a:r>
              <a:rPr lang="en-GB" sz="3200" dirty="0"/>
              <a:t> MANUALMENTE la </a:t>
            </a:r>
            <a:r>
              <a:rPr lang="en-GB" sz="3200" dirty="0" err="1"/>
              <a:t>membrana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10AC07-A02E-2E37-B18C-4EAE57FB2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3967480"/>
          </a:xfrm>
        </p:spPr>
        <p:txBody>
          <a:bodyPr>
            <a:normAutofit/>
          </a:bodyPr>
          <a:lstStyle/>
          <a:p>
            <a:r>
              <a:rPr lang="en-GB" dirty="0"/>
              <a:t>Una </a:t>
            </a:r>
            <a:r>
              <a:rPr lang="en-GB" dirty="0" err="1"/>
              <a:t>vez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cargue</a:t>
            </a:r>
            <a:r>
              <a:rPr lang="en-GB" dirty="0"/>
              <a:t> la Ventana de </a:t>
            </a:r>
            <a:r>
              <a:rPr lang="en-GB" dirty="0" err="1"/>
              <a:t>segmentación</a:t>
            </a:r>
            <a:r>
              <a:rPr lang="en-GB" dirty="0"/>
              <a:t>, </a:t>
            </a:r>
            <a:r>
              <a:rPr lang="en-GB" dirty="0" err="1"/>
              <a:t>rodear</a:t>
            </a:r>
            <a:r>
              <a:rPr lang="en-GB" dirty="0"/>
              <a:t> el </a:t>
            </a:r>
            <a:r>
              <a:rPr lang="en-GB" dirty="0" err="1"/>
              <a:t>área</a:t>
            </a:r>
            <a:r>
              <a:rPr lang="en-GB" dirty="0"/>
              <a:t> de la </a:t>
            </a:r>
            <a:r>
              <a:rPr lang="en-GB" dirty="0" err="1"/>
              <a:t>célula</a:t>
            </a:r>
            <a:r>
              <a:rPr lang="en-GB" dirty="0"/>
              <a:t>, </a:t>
            </a:r>
            <a:r>
              <a:rPr lang="en-GB" dirty="0" err="1"/>
              <a:t>rebanada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rebanada</a:t>
            </a:r>
            <a:r>
              <a:rPr lang="en-GB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0AC52-F6BA-61A8-EF26-360236898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247" y="2319746"/>
            <a:ext cx="4061003" cy="4117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691F06-CEC2-8A8A-7CA4-DEAC8693A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250" y="2319746"/>
            <a:ext cx="4121037" cy="417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430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BB424-D800-B4AA-3EC1-E8005B595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123A-3146-7170-5833-9522E60F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4. </a:t>
            </a:r>
            <a:r>
              <a:rPr lang="en-GB" sz="3200" dirty="0" err="1"/>
              <a:t>Segmentar</a:t>
            </a:r>
            <a:r>
              <a:rPr lang="en-GB" sz="3200" dirty="0"/>
              <a:t> MANUALMENTE la </a:t>
            </a:r>
            <a:r>
              <a:rPr lang="en-GB" sz="3200" dirty="0" err="1"/>
              <a:t>membrana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EE40CE-415D-865D-7883-5B8ED30A2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3967480"/>
          </a:xfrm>
        </p:spPr>
        <p:txBody>
          <a:bodyPr>
            <a:normAutofit/>
          </a:bodyPr>
          <a:lstStyle/>
          <a:p>
            <a:r>
              <a:rPr lang="en-GB" dirty="0"/>
              <a:t>Cuando </a:t>
            </a:r>
            <a:r>
              <a:rPr lang="en-GB" dirty="0" err="1"/>
              <a:t>cierras</a:t>
            </a:r>
            <a:r>
              <a:rPr lang="en-GB" dirty="0"/>
              <a:t> un </a:t>
            </a:r>
            <a:r>
              <a:rPr lang="en-GB" dirty="0" err="1"/>
              <a:t>área</a:t>
            </a:r>
            <a:r>
              <a:rPr lang="en-GB" dirty="0"/>
              <a:t>, se </a:t>
            </a:r>
            <a:r>
              <a:rPr lang="en-GB" dirty="0" err="1"/>
              <a:t>abre</a:t>
            </a:r>
            <a:r>
              <a:rPr lang="en-GB" dirty="0"/>
              <a:t> la </a:t>
            </a:r>
            <a:r>
              <a:rPr lang="en-GB" dirty="0" err="1"/>
              <a:t>ventana</a:t>
            </a:r>
            <a:r>
              <a:rPr lang="en-GB" dirty="0"/>
              <a:t> de </a:t>
            </a:r>
            <a:r>
              <a:rPr lang="en-GB" dirty="0" err="1"/>
              <a:t>diálogo</a:t>
            </a:r>
            <a:r>
              <a:rPr lang="en-GB" dirty="0"/>
              <a:t>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debes</a:t>
            </a:r>
            <a:r>
              <a:rPr lang="en-GB" dirty="0"/>
              <a:t> </a:t>
            </a:r>
            <a:r>
              <a:rPr lang="en-GB" dirty="0" err="1"/>
              <a:t>hacer</a:t>
            </a:r>
            <a:r>
              <a:rPr lang="en-GB" dirty="0"/>
              <a:t> click “Next slice” para </a:t>
            </a:r>
            <a:r>
              <a:rPr lang="en-GB" dirty="0" err="1"/>
              <a:t>ir</a:t>
            </a:r>
            <a:r>
              <a:rPr lang="en-GB" dirty="0"/>
              <a:t> a la </a:t>
            </a:r>
            <a:r>
              <a:rPr lang="en-GB" dirty="0" err="1"/>
              <a:t>siguiente</a:t>
            </a:r>
            <a:r>
              <a:rPr lang="en-GB" dirty="0"/>
              <a:t> </a:t>
            </a:r>
            <a:r>
              <a:rPr lang="en-GB" dirty="0" err="1"/>
              <a:t>rebanada</a:t>
            </a:r>
            <a:r>
              <a:rPr lang="en-GB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292547-8EA2-4536-A7EA-DB2C5B95B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094" y="2400017"/>
            <a:ext cx="4009812" cy="40369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93F0F3-2E56-DD11-B489-E9EDF44AFFFF}"/>
              </a:ext>
            </a:extLst>
          </p:cNvPr>
          <p:cNvSpPr/>
          <p:nvPr/>
        </p:nvSpPr>
        <p:spPr>
          <a:xfrm>
            <a:off x="5653391" y="3132306"/>
            <a:ext cx="885217" cy="296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0524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B4B1-32C1-448D-52C9-D1EEC5BEB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6DD4-4C05-2D09-19C7-42AC61DE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4. </a:t>
            </a:r>
            <a:r>
              <a:rPr lang="en-GB" sz="3200" dirty="0" err="1"/>
              <a:t>Segmentar</a:t>
            </a:r>
            <a:r>
              <a:rPr lang="en-GB" sz="3200" dirty="0"/>
              <a:t> MANUALMENTE la </a:t>
            </a:r>
            <a:r>
              <a:rPr lang="en-GB" sz="3200" dirty="0" err="1"/>
              <a:t>membrana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CE3A411-9179-AF57-B6B9-31C4BF77E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3967480"/>
          </a:xfrm>
        </p:spPr>
        <p:txBody>
          <a:bodyPr>
            <a:normAutofit/>
          </a:bodyPr>
          <a:lstStyle/>
          <a:p>
            <a:r>
              <a:rPr lang="en-GB" dirty="0"/>
              <a:t>Cuando </a:t>
            </a:r>
            <a:r>
              <a:rPr lang="en-GB" dirty="0" err="1"/>
              <a:t>hayas</a:t>
            </a:r>
            <a:r>
              <a:rPr lang="en-GB" dirty="0"/>
              <a:t> </a:t>
            </a:r>
            <a:r>
              <a:rPr lang="en-GB" dirty="0" err="1"/>
              <a:t>terminado</a:t>
            </a:r>
            <a:r>
              <a:rPr lang="en-GB" dirty="0"/>
              <a:t>, </a:t>
            </a:r>
            <a:r>
              <a:rPr lang="en-GB" dirty="0" err="1"/>
              <a:t>hacer</a:t>
            </a:r>
            <a:r>
              <a:rPr lang="en-GB" dirty="0"/>
              <a:t> click </a:t>
            </a:r>
            <a:r>
              <a:rPr lang="en-GB" dirty="0" err="1"/>
              <a:t>en</a:t>
            </a:r>
            <a:r>
              <a:rPr lang="en-GB" dirty="0"/>
              <a:t> Finish &amp; save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2DFC3-B8AF-1215-FC34-A45EAA983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094" y="2400017"/>
            <a:ext cx="4009812" cy="403697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475374C-A218-AFA6-C291-A677AA918CE8}"/>
              </a:ext>
            </a:extLst>
          </p:cNvPr>
          <p:cNvSpPr/>
          <p:nvPr/>
        </p:nvSpPr>
        <p:spPr>
          <a:xfrm>
            <a:off x="6410527" y="3132306"/>
            <a:ext cx="885217" cy="296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47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B2A5B-4C19-4F2B-7195-C40E67D3D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026B2-3E58-0693-5D40-EF33A1A5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4. </a:t>
            </a:r>
            <a:r>
              <a:rPr lang="en-GB" sz="3200" dirty="0" err="1"/>
              <a:t>Segmentar</a:t>
            </a:r>
            <a:r>
              <a:rPr lang="en-GB" sz="3200" dirty="0"/>
              <a:t> MANUALMENTE la </a:t>
            </a:r>
            <a:r>
              <a:rPr lang="en-GB" sz="3200" dirty="0" err="1"/>
              <a:t>membrana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4F8E19-6589-A3B0-BD5D-F45135DEB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3967480"/>
          </a:xfrm>
        </p:spPr>
        <p:txBody>
          <a:bodyPr>
            <a:normAutofit/>
          </a:bodyPr>
          <a:lstStyle/>
          <a:p>
            <a:r>
              <a:rPr lang="en-GB" dirty="0"/>
              <a:t>Si </a:t>
            </a:r>
            <a:r>
              <a:rPr lang="en-GB" dirty="0" err="1"/>
              <a:t>cometes</a:t>
            </a:r>
            <a:r>
              <a:rPr lang="en-GB" dirty="0"/>
              <a:t> un error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agarraste</a:t>
            </a:r>
            <a:r>
              <a:rPr lang="en-GB" dirty="0"/>
              <a:t> MENOS del </a:t>
            </a:r>
            <a:r>
              <a:rPr lang="en-GB" dirty="0" err="1"/>
              <a:t>área</a:t>
            </a:r>
            <a:r>
              <a:rPr lang="en-GB" dirty="0"/>
              <a:t> de la </a:t>
            </a:r>
            <a:r>
              <a:rPr lang="en-GB" dirty="0" err="1"/>
              <a:t>célula</a:t>
            </a:r>
            <a:r>
              <a:rPr lang="en-GB" dirty="0"/>
              <a:t>, </a:t>
            </a:r>
            <a:r>
              <a:rPr lang="en-GB" dirty="0" err="1"/>
              <a:t>puedes</a:t>
            </a:r>
            <a:r>
              <a:rPr lang="en-GB" dirty="0"/>
              <a:t> </a:t>
            </a:r>
            <a:r>
              <a:rPr lang="en-GB" dirty="0" err="1"/>
              <a:t>hacer</a:t>
            </a:r>
            <a:r>
              <a:rPr lang="en-GB" dirty="0"/>
              <a:t> click </a:t>
            </a:r>
            <a:r>
              <a:rPr lang="en-GB" dirty="0" err="1"/>
              <a:t>en</a:t>
            </a:r>
            <a:r>
              <a:rPr lang="en-GB" dirty="0"/>
              <a:t> Add another y </a:t>
            </a:r>
            <a:r>
              <a:rPr lang="en-GB" dirty="0" err="1"/>
              <a:t>corregir</a:t>
            </a:r>
            <a:r>
              <a:rPr lang="en-GB" dirty="0"/>
              <a:t> </a:t>
            </a:r>
            <a:r>
              <a:rPr lang="en-GB" dirty="0" err="1"/>
              <a:t>sobrelapando</a:t>
            </a:r>
            <a:r>
              <a:rPr lang="en-GB" dirty="0"/>
              <a:t> las </a:t>
            </a:r>
            <a:r>
              <a:rPr lang="en-GB" dirty="0" err="1"/>
              <a:t>áreas</a:t>
            </a:r>
            <a:r>
              <a:rPr lang="en-GB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32470-C443-D508-DC24-86D3E470B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032" y="2295728"/>
            <a:ext cx="4328606" cy="36249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2E0031D-DD9F-ADB8-20C9-BFE2D5BFD9F7}"/>
              </a:ext>
            </a:extLst>
          </p:cNvPr>
          <p:cNvSpPr/>
          <p:nvPr/>
        </p:nvSpPr>
        <p:spPr>
          <a:xfrm>
            <a:off x="3368191" y="3132306"/>
            <a:ext cx="885217" cy="296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06A278-9282-74E4-3C45-E420BF5B9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730" y="2295728"/>
            <a:ext cx="3536790" cy="362496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CBD8D9-1372-767D-F1FC-FBF3DF5EA71D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5459638" y="4108211"/>
            <a:ext cx="1192092" cy="0"/>
          </a:xfrm>
          <a:prstGeom prst="straightConnector1">
            <a:avLst/>
          </a:prstGeom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124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8D536-F405-A502-D4A7-869DC678D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2991E-1513-19A1-ACB3-FC5CFDBD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4. </a:t>
            </a:r>
            <a:r>
              <a:rPr lang="en-GB" sz="3200" dirty="0" err="1"/>
              <a:t>Segmentar</a:t>
            </a:r>
            <a:r>
              <a:rPr lang="en-GB" sz="3200" dirty="0"/>
              <a:t> MANUALMENTE la </a:t>
            </a:r>
            <a:r>
              <a:rPr lang="en-GB" sz="3200" dirty="0" err="1"/>
              <a:t>membrana</a:t>
            </a:r>
            <a:endParaRPr lang="en-GB" sz="32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CE8A44C-21E1-D59C-AFC5-32F7DA3F6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5932251" cy="3967480"/>
          </a:xfrm>
        </p:spPr>
        <p:txBody>
          <a:bodyPr>
            <a:normAutofit/>
          </a:bodyPr>
          <a:lstStyle/>
          <a:p>
            <a:r>
              <a:rPr lang="en-GB" dirty="0"/>
              <a:t>Si </a:t>
            </a:r>
            <a:r>
              <a:rPr lang="en-GB" dirty="0" err="1"/>
              <a:t>cometes</a:t>
            </a:r>
            <a:r>
              <a:rPr lang="en-GB" dirty="0"/>
              <a:t> un error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agarraste</a:t>
            </a:r>
            <a:r>
              <a:rPr lang="en-GB" dirty="0"/>
              <a:t> MÁS del </a:t>
            </a:r>
            <a:r>
              <a:rPr lang="en-GB" dirty="0" err="1"/>
              <a:t>área</a:t>
            </a:r>
            <a:r>
              <a:rPr lang="en-GB" dirty="0"/>
              <a:t> de la </a:t>
            </a:r>
            <a:r>
              <a:rPr lang="en-GB" dirty="0" err="1"/>
              <a:t>célula</a:t>
            </a:r>
            <a:r>
              <a:rPr lang="en-GB" dirty="0"/>
              <a:t>, APUNTA el </a:t>
            </a:r>
            <a:r>
              <a:rPr lang="en-GB" dirty="0" err="1"/>
              <a:t>número</a:t>
            </a:r>
            <a:r>
              <a:rPr lang="en-GB" dirty="0"/>
              <a:t> de </a:t>
            </a:r>
            <a:r>
              <a:rPr lang="en-GB" dirty="0" err="1"/>
              <a:t>rebanada</a:t>
            </a:r>
            <a:r>
              <a:rPr lang="en-GB" dirty="0"/>
              <a:t>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cometiste</a:t>
            </a:r>
            <a:r>
              <a:rPr lang="en-GB" dirty="0"/>
              <a:t> el error, y continua a la </a:t>
            </a:r>
            <a:r>
              <a:rPr lang="en-GB" dirty="0" err="1"/>
              <a:t>siguiente</a:t>
            </a:r>
            <a:r>
              <a:rPr lang="en-GB" dirty="0"/>
              <a:t> </a:t>
            </a:r>
            <a:r>
              <a:rPr lang="en-GB" dirty="0" err="1"/>
              <a:t>rebanada</a:t>
            </a:r>
            <a:r>
              <a:rPr lang="en-GB" dirty="0"/>
              <a:t> (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nada </a:t>
            </a:r>
            <a:r>
              <a:rPr lang="en-GB" dirty="0" err="1"/>
              <a:t>hubiera</a:t>
            </a:r>
            <a:r>
              <a:rPr lang="en-GB" dirty="0"/>
              <a:t> </a:t>
            </a:r>
            <a:r>
              <a:rPr lang="en-GB" dirty="0" err="1"/>
              <a:t>pasado</a:t>
            </a:r>
            <a:r>
              <a:rPr lang="en-GB" dirty="0"/>
              <a:t>, </a:t>
            </a:r>
            <a:r>
              <a:rPr lang="en-GB" dirty="0" err="1"/>
              <a:t>yo</a:t>
            </a:r>
            <a:r>
              <a:rPr lang="en-GB" dirty="0"/>
              <a:t> </a:t>
            </a:r>
            <a:r>
              <a:rPr lang="en-GB" dirty="0" err="1"/>
              <a:t>puedo</a:t>
            </a:r>
            <a:r>
              <a:rPr lang="en-GB" dirty="0"/>
              <a:t> </a:t>
            </a:r>
            <a:r>
              <a:rPr lang="en-GB" dirty="0" err="1"/>
              <a:t>corregir</a:t>
            </a:r>
            <a:r>
              <a:rPr lang="en-GB" dirty="0"/>
              <a:t> las </a:t>
            </a:r>
            <a:r>
              <a:rPr lang="en-GB" dirty="0" err="1"/>
              <a:t>rebanadas</a:t>
            </a:r>
            <a:r>
              <a:rPr lang="en-GB" dirty="0"/>
              <a:t> </a:t>
            </a:r>
            <a:r>
              <a:rPr lang="en-GB" dirty="0" err="1"/>
              <a:t>erróneas</a:t>
            </a:r>
            <a:r>
              <a:rPr lang="en-GB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11FF01-68FD-37E0-27C3-2AAF25252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451" y="1417320"/>
            <a:ext cx="4813098" cy="4750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33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A381-89ED-AC71-DE8F-375D5141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816C-D40A-C7EC-703F-8B5EB352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sz="3200" dirty="0"/>
              <a:t>PREGUNTAR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B6D0DB-CC60-37BE-321F-74D66C74B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5932251" cy="3967480"/>
          </a:xfrm>
        </p:spPr>
        <p:txBody>
          <a:bodyPr>
            <a:normAutofit/>
          </a:bodyPr>
          <a:lstStyle/>
          <a:p>
            <a:r>
              <a:rPr lang="en-GB" dirty="0"/>
              <a:t>Si </a:t>
            </a:r>
            <a:r>
              <a:rPr lang="en-GB" dirty="0" err="1"/>
              <a:t>tienes</a:t>
            </a:r>
            <a:r>
              <a:rPr lang="en-GB" dirty="0"/>
              <a:t> </a:t>
            </a:r>
            <a:r>
              <a:rPr lang="en-GB" dirty="0" err="1"/>
              <a:t>dudas</a:t>
            </a:r>
            <a:r>
              <a:rPr lang="en-GB" dirty="0"/>
              <a:t>, </a:t>
            </a:r>
            <a:r>
              <a:rPr lang="en-GB" dirty="0" err="1"/>
              <a:t>pregúntame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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Solo </a:t>
            </a:r>
            <a:r>
              <a:rPr lang="en-GB" dirty="0" err="1">
                <a:sym typeface="Wingdings" panose="05000000000000000000" pitchFamily="2" charset="2"/>
              </a:rPr>
              <a:t>escribeme</a:t>
            </a:r>
            <a:r>
              <a:rPr lang="en-GB" dirty="0">
                <a:sym typeface="Wingdings" panose="05000000000000000000" pitchFamily="2" charset="2"/>
              </a:rPr>
              <a:t> un </a:t>
            </a:r>
            <a:r>
              <a:rPr lang="en-GB" dirty="0" err="1">
                <a:sym typeface="Wingdings" panose="05000000000000000000" pitchFamily="2" charset="2"/>
              </a:rPr>
              <a:t>correo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763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</Words>
  <Application>Microsoft Office PowerPoint</Application>
  <PresentationFormat>Widescreen</PresentationFormat>
  <Paragraphs>68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Instrucciones para segmentar células HeLa</vt:lpstr>
      <vt:lpstr>A. Instalar Octave / MATLAB</vt:lpstr>
      <vt:lpstr>B. Descargar conjunto de imágenes CIL50051</vt:lpstr>
      <vt:lpstr>1. Ver las imágenes y escoger una célula para segmentar.</vt:lpstr>
      <vt:lpstr>1. Ver las imágenes y escoger una célula para segmentar.</vt:lpstr>
      <vt:lpstr>1. Ver las imágenes y escoger una célula para segmentar.</vt:lpstr>
      <vt:lpstr>1. Ver las imágenes y escoger una célula para segmentar.</vt:lpstr>
      <vt:lpstr>2. Usando MATLAB, sacar el crop de las imágenes</vt:lpstr>
      <vt:lpstr>3. Segmentar el núcleo</vt:lpstr>
      <vt:lpstr>3. Segmentar el núcleo</vt:lpstr>
      <vt:lpstr>4. Segmentar MANUALMENTE la membrana</vt:lpstr>
      <vt:lpstr>4. Segmentar MANUALMENTE la membrana</vt:lpstr>
      <vt:lpstr>4. Segmentar MANUALMENTE la membrana</vt:lpstr>
      <vt:lpstr>4. Segmentar MANUALMENTE la membrana</vt:lpstr>
      <vt:lpstr>4. Segmentar MANUALMENTE la membrana</vt:lpstr>
      <vt:lpstr>4. Segmentar MANUALMENTE la membrana</vt:lpstr>
      <vt:lpstr>PREGUNTAR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Brito, Daniel</dc:creator>
  <cp:lastModifiedBy>Daniel Brito</cp:lastModifiedBy>
  <cp:revision>6</cp:revision>
  <dcterms:created xsi:type="dcterms:W3CDTF">2026-10-05T16:33:36Z</dcterms:created>
  <dcterms:modified xsi:type="dcterms:W3CDTF">2026-10-06T12:30:14Z</dcterms:modified>
</cp:coreProperties>
</file>